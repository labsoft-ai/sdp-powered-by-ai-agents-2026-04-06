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1. Today we cover Git — the foundation of every collaborative software project.</a:t>
            </a:r>
          </a:p>
          <a:p>
            <a:r>
              <a:t>By the end of this module you'll understand Git workflows, conventions, and you'll build your first Kiro CLI agent that automates Git operations.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Linus Torvalds created Git in 2005 out of necessity. The Linux kernel project lost access to BitKeeper, and no existing tool met their needs: thousands of developers, millions of lines of code, hundreds of parallel branches.</a:t>
            </a:r>
          </a:p>
          <a:p>
            <a:r>
              <a:t>He built the first version in 10 days. The design priorities were speed, data integrity, and support for distributed workflows — every developer gets a full copy of the repository.</a:t>
            </a:r>
          </a:p>
          <a:p>
            <a:r>
              <a:t>Today, Git is not optional in professional software development. GitHub alone hosts over 400 million repositories. Every company, every open source project, every serious developer uses Git. It's the foundation everything else is built on — CI/CD, code review, deployment pipelines — all assume Git underneath.</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our learning objectives. Notice the last one — you're not just learning Git, you're building an AI agent that does Git operations for you.</a:t>
            </a:r>
          </a:p>
          <a:p>
            <a:r>
              <a:t>This is the pattern for the entire course: learn the process, then automate it with an agent.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theory. Even if you've used Git before, pay attention to the conventions — they matter when working in teams.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is distributed. That means every clone is a full backup. If GitHub goes down, you still have the entire history on your machine.</a:t>
            </a:r>
          </a:p>
          <a:p>
            <a:r>
              <a:t>The key insight is that branches are cheap. Creating a branch takes milliseconds. This is what makes the branching strategy we'll discuss next actually practical.</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branching strategy defines how a team uses branches. Without one, you get chaos — developers overwriting each other, broken main branches, no clear path to production.</a:t>
            </a:r>
          </a:p>
          <a:p>
            <a:r>
              <a:t>Notice the naming convention: lowercase with hyphens, short but descriptive. No issue numbers in branch names — we reference issues in commits instead.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common mistakes in teams. Someone creates a branch, works on it for two weeks, and then tries to merge. By that point, main has moved so far ahead that the merge is a nightmare.</a:t>
            </a:r>
          </a:p>
          <a:p>
            <a:r>
              <a:t>The fix is simple: keep branches short-lived and sync daily. If your feature takes longer than two days, break it into smaller issues.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daily habit. Fetch, merge main into your branch. If there are conflicts, they'll be small and easy to resolve because you're doing this every day.</a:t>
            </a:r>
          </a:p>
          <a:p>
            <a:r>
              <a:t>We use merge instead of rebase in this course because merge is safer for beginners — it doesn't rewrite history, so there's no risk of losing work.</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Commits are the atomic unit of your project history. A good commit message tells the team what changed and why — without reading the code.</a:t>
            </a:r>
          </a:p>
          <a:p>
            <a:r>
              <a:t>We use Conventional Commits with GitHub issue references. The scope is mandatory — it tells you which part of the codebase changed. The issue number links the commit to the work item.</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difference. The bad commit tells you nothing. The good commit tells you: it's related to issue 42, it's a new feature, it's in the auth module, and it adds an OAuth2 login endpoint.</a:t>
            </a:r>
          </a:p>
          <a:p>
            <a:r>
              <a:t>The Closes keyword in the body will automatically close the issue when this commit is merged to main.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Issues are how you plan and track work. The acceptance criteria checkboxes serve as a Definition of Done — the issue is complete only when all boxes are checked.</a:t>
            </a:r>
          </a:p>
          <a:p>
            <a:r>
              <a:t>This is important because it makes "done" unambiguous. No more "I think it's done" — either all boxes are checked or they're not.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template. Every issue follows this format. The emojis are optional but they make scanning issues much faster.</a:t>
            </a:r>
          </a:p>
          <a:p>
            <a:r>
              <a:t>Notice the acceptance criteria — these are checkboxes. When you're working on the issue, you check them off as you complete each one.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requests are the quality gate. No code goes to main without a PR and at least one review.</a:t>
            </a:r>
          </a:p>
          <a:p>
            <a:r>
              <a:t>The key rule: keep PRs small. A 50-line PR gets a thorough review. A 2000-line PR gets a rubber stamp. Small PRs are always better.</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 template. The title references the issue. The body links to it with Closes. The testing section is a checklist you complete before requesting review.</a:t>
            </a:r>
          </a:p>
          <a:p>
            <a:r>
              <a:t>Never add reviewers to a failing PR. Fix it first, then ask for review.</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monorepo is a single repository containing multiple projects. The alternative is one repo per service, called polyrepo.</a:t>
            </a:r>
          </a:p>
          <a:p>
            <a:r>
              <a:t>Monorepo wins for teams that need consistency. One set of rules, one CI/CD pipeline, one place to look. The tradeoff is repo size and CI complexity, but path-based triggers solve that.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Git matters more than ever. The everything-as-code movement means your documentation lives in Markdown files right next to your code. Your infrastructure is defined in YAML templates. Your CI/CD pipelines are code. Your architecture diagrams are PlantUML files.</a:t>
            </a:r>
          </a:p>
          <a:p>
            <a:r>
              <a:t>When everything is code, everything is versioned together. You change an API endpoint, update the docs, adjust the infrastructure, and modify the CI pipeline — all in one commit. There's no drift between what's documented and what's deployed, because they're versioned together.</a:t>
            </a:r>
          </a:p>
          <a:p>
            <a:r>
              <a:t>This is the real power of Git in modern development. It's not just version control for source code — it's version control for your entire system.</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Pre-commit hooks are the unsung hero of code quality. They run automatically before every commit and catch problems instantly.</a:t>
            </a:r>
          </a:p>
          <a:p>
            <a:r>
              <a:t>Without hooks, you commit bad code, push, wait 2-5 minutes for CI to fail, fix, push again, wait again. With hooks, you know in 5 seconds. That's the difference between a 10-second fix and a 10-minute round trip.</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stack of hooks we'll set up. Black and isort handle formatting automatically — you never argue about code style again. Ruff catches bugs and bad patterns. Bandit finds security issues. detect-secrets prevents you from accidentally committing API keys.</a:t>
            </a:r>
          </a:p>
          <a:p>
            <a:r>
              <a:t>The critical rule: never bypass hooks with git commit --no-verify. If a hook fails, fix the issue. The hook exists for a reason.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put theory into practice. In Part 1 of the exercise, you'll set everything up manually — GitHub account, repository, pre-commit hooks, and your first issue.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manual part. You do everything by hand first so you understand what the agent will automate later.</a:t>
            </a:r>
          </a:p>
          <a:p>
            <a:r>
              <a:t>The repository name includes your name so we can find your work. The pre-commit hooks match what we use in production — same tools, same config.</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fun part. You'll build the Git agent and use it to automate everything you just did manually.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see the power of the agent. Instead of manually typing issue templates and PR descriptions, the agent does it for you — correctly, every time.</a:t>
            </a:r>
          </a:p>
          <a:p>
            <a:r>
              <a:t>The starter config gives you the issue template. You need to add the commit convention, branch naming, and PR template yourself. That's the learning exercise.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philosophy of the course. You can't automate what you don't understand. That's why we do things manually first, then build agents to do them for us.</a:t>
            </a:r>
          </a:p>
          <a:p>
            <a:r>
              <a:t>Next module, we'll apply the same pattern to software architecture — learn arc42 and C4, then build an agent that generates architecture documents.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914400" y="2286000"/>
            <a:ext cx="10362895" cy="1371600"/>
          </a:xfrm>
          <a:prstGeom prst="rect">
            <a:avLst/>
          </a:prstGeom>
          <a:noFill/>
        </p:spPr>
        <p:txBody>
          <a:bodyPr wrap="none">
            <a:spAutoFit/>
          </a:bodyPr>
          <a:lstStyle/>
          <a:p>
            <a:pPr algn="ctr">
              <a:defRPr sz="5400" b="1">
                <a:solidFill>
                  <a:srgbClr val="FFFFFF"/>
                </a:solidFill>
              </a:defRPr>
            </a:pPr>
            <a:r>
              <a:t>Module 1: Git</a:t>
            </a:r>
          </a:p>
        </p:txBody>
      </p:sp>
      <p:sp>
        <p:nvSpPr>
          <p:cNvPr id="3" name="TextBox 2"/>
          <p:cNvSpPr txBox="1"/>
          <p:nvPr/>
        </p:nvSpPr>
        <p:spPr>
          <a:xfrm>
            <a:off x="914400" y="4114800"/>
            <a:ext cx="10362895" cy="914400"/>
          </a:xfrm>
          <a:prstGeom prst="rect">
            <a:avLst/>
          </a:prstGeom>
          <a:noFill/>
        </p:spPr>
        <p:txBody>
          <a:bodyPr wrap="none">
            <a:spAutoFit/>
          </a:bodyPr>
          <a:lstStyle/>
          <a:p>
            <a:pPr algn="ctr">
              <a:defRPr sz="2400">
                <a:solidFill>
                  <a:srgbClr val="4F81BD"/>
                </a:solidFill>
              </a:defRPr>
            </a:pPr>
            <a:r>
              <a:t>Software Development Processes Powered by AI Agents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The Origin of Git</a:t>
            </a:r>
          </a:p>
        </p:txBody>
      </p:sp>
      <p:sp>
        <p:nvSpPr>
          <p:cNvPr id="3" name="TextBox 2"/>
          <p:cNvSpPr txBox="1"/>
          <p:nvPr/>
        </p:nvSpPr>
        <p:spPr>
          <a:xfrm>
            <a:off x="1371600" y="2286000"/>
            <a:ext cx="9448495" cy="3657600"/>
          </a:xfrm>
          <a:prstGeom prst="rect">
            <a:avLst/>
          </a:prstGeom>
          <a:noFill/>
        </p:spPr>
        <p:txBody>
          <a:bodyPr wrap="square">
            <a:spAutoFit/>
          </a:bodyPr>
          <a:lstStyle/>
          <a:p>
            <a:pPr>
              <a:lnSpc>
                <a:spcPct val="150000"/>
              </a:lnSpc>
              <a:spcAft>
                <a:spcPts val="1800"/>
              </a:spcAft>
            </a:pPr>
            <a:r>
              <a:rPr sz="2200">
                <a:solidFill>
                  <a:srgbClr val="404040"/>
                </a:solidFill>
              </a:rPr>
              <a:t>In 2005, Linus Torvalds — the creator of Linux — had a problem. The Linux kernel had thousands of contributors worldwide, and their version control tool (BitKeeper) revoked its free license. In just 10 days, Torvalds built Git from scratch. His goals: speed, distributed design, and the ability to handle massive projects with thousands of parallel branches. Within months, Git replaced every alternative. Today it is the universal standard for professional software development — not because it's simple, but because no other tool handles collaboration at scale as well.</a:t>
            </a:r>
          </a:p>
          <a:p>
            <a:pPr>
              <a:lnSpc>
                <a:spcPct val="150000"/>
              </a:lnSpc>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What You'll Learn</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Understand Git fundamentals and why version control matters</a:t>
            </a:r>
          </a:p>
          <a:p>
            <a:pPr>
              <a:spcAft>
                <a:spcPts val="1200"/>
              </a:spcAft>
            </a:pPr>
            <a:r>
              <a:rPr sz="2000">
                <a:solidFill>
                  <a:srgbClr val="404040"/>
                </a:solidFill>
              </a:rPr>
              <a:t>• Use a branching strategy in a team setting</a:t>
            </a:r>
          </a:p>
          <a:p>
            <a:pPr>
              <a:spcAft>
                <a:spcPts val="1200"/>
              </a:spcAft>
            </a:pPr>
            <a:r>
              <a:rPr sz="2000">
                <a:solidFill>
                  <a:srgbClr val="404040"/>
                </a:solidFill>
              </a:rPr>
              <a:t>• Write structured commit messages that link to issues</a:t>
            </a:r>
          </a:p>
          <a:p>
            <a:pPr>
              <a:spcAft>
                <a:spcPts val="1200"/>
              </a:spcAft>
            </a:pPr>
            <a:r>
              <a:rPr sz="2000">
                <a:solidFill>
                  <a:srgbClr val="404040"/>
                </a:solidFill>
              </a:rPr>
              <a:t>• Create GitHub Issues and Pull Requests following a convention</a:t>
            </a:r>
          </a:p>
          <a:p>
            <a:pPr>
              <a:spcAft>
                <a:spcPts val="1200"/>
              </a:spcAft>
            </a:pPr>
            <a:r>
              <a:rPr sz="2000">
                <a:solidFill>
                  <a:srgbClr val="404040"/>
                </a:solidFill>
              </a:rPr>
              <a:t>• Configure pre-commit hooks as a local quality safeguard</a:t>
            </a:r>
          </a:p>
          <a:p>
            <a:pPr>
              <a:spcAft>
                <a:spcPts val="1200"/>
              </a:spcAft>
            </a:pPr>
            <a:r>
              <a:rPr sz="2000">
                <a:solidFill>
                  <a:srgbClr val="404040"/>
                </a:solidFill>
              </a:rPr>
              <a:t>• Build a Kiro CLI agent that automates Git operations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1</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Theory: Git Essentials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What Is Git?</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Distributed version control system — every developer has a full copy</a:t>
            </a:r>
          </a:p>
          <a:p>
            <a:pPr>
              <a:spcAft>
                <a:spcPts val="1200"/>
              </a:spcAft>
            </a:pPr>
            <a:r>
              <a:rPr sz="2000">
                <a:solidFill>
                  <a:srgbClr val="404040"/>
                </a:solidFill>
              </a:rPr>
              <a:t>• Work offline, commit locally, no single point of failure</a:t>
            </a:r>
          </a:p>
          <a:p>
            <a:pPr>
              <a:spcAft>
                <a:spcPts val="1200"/>
              </a:spcAft>
            </a:pPr>
            <a:r>
              <a:rPr sz="2000">
                <a:solidFill>
                  <a:srgbClr val="404040"/>
                </a:solidFill>
              </a:rPr>
              <a:t>• Branching and merging are fast and cheap</a:t>
            </a:r>
          </a:p>
          <a:p>
            <a:pPr>
              <a:spcAft>
                <a:spcPts val="1200"/>
              </a:spcAft>
            </a:pPr>
            <a:r>
              <a:rPr sz="2000">
                <a:solidFill>
                  <a:srgbClr val="404040"/>
                </a:solidFill>
              </a:rPr>
              <a:t>• Key concepts: repository, commit, branch, merge, remote, clone, pull, push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Branching Strategy</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a:t>
            </a:r>
            <a:r>
              <a:rPr sz="2000">
                <a:solidFill>
                  <a:srgbClr val="404040"/>
                </a:solidFill>
                <a:latin typeface="Consolas"/>
              </a:rPr>
              <a:t>main</a:t>
            </a:r>
            <a:r>
              <a:rPr sz="2000">
                <a:solidFill>
                  <a:srgbClr val="404040"/>
                </a:solidFill>
              </a:rPr>
              <a:t> — production-ready code (auto-deploy to Staging)</a:t>
            </a:r>
          </a:p>
          <a:p>
            <a:pPr>
              <a:spcAft>
                <a:spcPts val="1200"/>
              </a:spcAft>
            </a:pPr>
            <a:r>
              <a:rPr sz="2000">
                <a:solidFill>
                  <a:srgbClr val="404040"/>
                </a:solidFill>
              </a:rPr>
              <a:t>• </a:t>
            </a:r>
            <a:r>
              <a:rPr sz="2000">
                <a:solidFill>
                  <a:srgbClr val="404040"/>
                </a:solidFill>
                <a:latin typeface="Consolas"/>
              </a:rPr>
              <a:t>feature/*</a:t>
            </a:r>
            <a:r>
              <a:rPr sz="2000">
                <a:solidFill>
                  <a:srgbClr val="404040"/>
                </a:solidFill>
              </a:rPr>
              <a:t> — new functionality (auto-deploy to Development)</a:t>
            </a:r>
          </a:p>
          <a:p>
            <a:pPr>
              <a:spcAft>
                <a:spcPts val="1200"/>
              </a:spcAft>
            </a:pPr>
            <a:r>
              <a:rPr sz="2000">
                <a:solidFill>
                  <a:srgbClr val="404040"/>
                </a:solidFill>
              </a:rPr>
              <a:t>• </a:t>
            </a:r>
            <a:r>
              <a:rPr sz="2000">
                <a:solidFill>
                  <a:srgbClr val="404040"/>
                </a:solidFill>
                <a:latin typeface="Consolas"/>
              </a:rPr>
              <a:t>fix/*</a:t>
            </a:r>
            <a:r>
              <a:rPr sz="2000">
                <a:solidFill>
                  <a:srgbClr val="404040"/>
                </a:solidFill>
              </a:rPr>
              <a:t> — bug fixes (auto-deploy to Development)</a:t>
            </a:r>
          </a:p>
          <a:p>
            <a:pPr>
              <a:spcAft>
                <a:spcPts val="1200"/>
              </a:spcAft>
            </a:pPr>
            <a:r>
              <a:rPr sz="2000">
                <a:solidFill>
                  <a:srgbClr val="404040"/>
                </a:solidFill>
              </a:rPr>
              <a:t>• </a:t>
            </a:r>
            <a:r>
              <a:rPr sz="2000">
                <a:solidFill>
                  <a:srgbClr val="404040"/>
                </a:solidFill>
                <a:latin typeface="Consolas"/>
              </a:rPr>
              <a:t>hotfix/*</a:t>
            </a:r>
            <a:r>
              <a:rPr sz="2000">
                <a:solidFill>
                  <a:srgbClr val="404040"/>
                </a:solidFill>
              </a:rPr>
              <a:t> — urgent production fixes (auto-deploy to Development)</a:t>
            </a:r>
          </a:p>
          <a:p>
            <a:pPr>
              <a:spcAft>
                <a:spcPts val="1200"/>
              </a:spcAft>
            </a:pPr>
            <a:r>
              <a:rPr sz="2000">
                <a:solidFill>
                  <a:srgbClr val="404040"/>
                </a:solidFill>
              </a:rPr>
              <a:t>• </a:t>
            </a:r>
            <a:r>
              <a:rPr sz="2000">
                <a:solidFill>
                  <a:srgbClr val="404040"/>
                </a:solidFill>
                <a:latin typeface="Consolas"/>
              </a:rPr>
              <a:t>chore/*</a:t>
            </a:r>
            <a:r>
              <a:rPr sz="2000">
                <a:solidFill>
                  <a:srgbClr val="404040"/>
                </a:solidFill>
              </a:rPr>
              <a:t> — maintenance tasks (auto-deploy to Development)</a:t>
            </a:r>
          </a:p>
          <a:p>
            <a:pPr>
              <a:spcAft>
                <a:spcPts val="1200"/>
              </a:spcAft>
            </a:pPr>
            <a:r>
              <a:rPr sz="2000">
                <a:solidFill>
                  <a:srgbClr val="404040"/>
                </a:solidFill>
              </a:rPr>
              <a:t>• </a:t>
            </a:r>
            <a:r>
              <a:rPr sz="2000">
                <a:solidFill>
                  <a:srgbClr val="404040"/>
                </a:solidFill>
                <a:latin typeface="Consolas"/>
              </a:rPr>
              <a:t>v*</a:t>
            </a:r>
            <a:r>
              <a:rPr sz="2000">
                <a:solidFill>
                  <a:srgbClr val="404040"/>
                </a:solidFill>
              </a:rPr>
              <a:t> tags — production releases (manual deploy)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371600"/>
            <a:ext cx="3657600" cy="1828800"/>
          </a:xfrm>
          <a:prstGeom prst="rect">
            <a:avLst/>
          </a:prstGeom>
          <a:noFill/>
        </p:spPr>
        <p:txBody>
          <a:bodyPr wrap="none">
            <a:spAutoFit/>
          </a:bodyPr>
          <a:lstStyle/>
          <a:p>
            <a:pPr algn="ctr">
              <a:defRPr sz="12000" b="1">
                <a:solidFill>
                  <a:srgbClr val="FF7F00"/>
                </a:solidFill>
              </a:defRPr>
            </a:pPr>
            <a:r>
              <a:t>⚠️</a:t>
            </a:r>
          </a:p>
        </p:txBody>
      </p:sp>
      <p:sp>
        <p:nvSpPr>
          <p:cNvPr id="3" name="TextBox 2"/>
          <p:cNvSpPr txBox="1"/>
          <p:nvPr/>
        </p:nvSpPr>
        <p:spPr>
          <a:xfrm>
            <a:off x="5029200" y="1828800"/>
            <a:ext cx="6248095" cy="914400"/>
          </a:xfrm>
          <a:prstGeom prst="rect">
            <a:avLst/>
          </a:prstGeom>
          <a:noFill/>
        </p:spPr>
        <p:txBody>
          <a:bodyPr wrap="none">
            <a:spAutoFit/>
          </a:bodyPr>
          <a:lstStyle/>
          <a:p>
            <a:pPr>
              <a:defRPr sz="3600" b="1">
                <a:solidFill>
                  <a:srgbClr val="1F3864"/>
                </a:solidFill>
              </a:defRPr>
            </a:pPr>
            <a:r>
              <a:t>Integration Hell</a:t>
            </a:r>
          </a:p>
        </p:txBody>
      </p:sp>
      <p:sp>
        <p:nvSpPr>
          <p:cNvPr id="4" name="TextBox 3"/>
          <p:cNvSpPr txBox="1"/>
          <p:nvPr/>
        </p:nvSpPr>
        <p:spPr>
          <a:xfrm>
            <a:off x="5029200" y="2926080"/>
            <a:ext cx="6248095" cy="3200400"/>
          </a:xfrm>
          <a:prstGeom prst="rect">
            <a:avLst/>
          </a:prstGeom>
          <a:noFill/>
        </p:spPr>
        <p:txBody>
          <a:bodyPr wrap="square">
            <a:spAutoFit/>
          </a:bodyPr>
          <a:lstStyle/>
          <a:p>
            <a:r>
              <a:rPr sz="1800">
                <a:solidFill>
                  <a:srgbClr val="404040"/>
                </a:solidFill>
              </a:rPr>
              <a:t>Long-lived branches diverge from main. Conflicts pile up. Merging becomes painful, risky, and time-consuming.
Keep branches short-lived: merge within 1–2 days. Sync with main daily.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82C34"/>
        </a:solidFill>
        <a:effectLst/>
      </p:bgPr>
    </p:bg>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lgn="l">
              <a:defRPr sz="2800" b="1">
                <a:solidFill>
                  <a:srgbClr val="FFFFFF"/>
                </a:solidFill>
              </a:defRPr>
            </a:pPr>
            <a:r>
              <a:t>Syncing with Main</a:t>
            </a:r>
          </a:p>
        </p:txBody>
      </p:sp>
      <p:sp>
        <p:nvSpPr>
          <p:cNvPr id="3" name="TextBox 2"/>
          <p:cNvSpPr txBox="1"/>
          <p:nvPr/>
        </p:nvSpPr>
        <p:spPr>
          <a:xfrm>
            <a:off x="457200" y="1097280"/>
            <a:ext cx="11277295" cy="5303520"/>
          </a:xfrm>
          <a:prstGeom prst="rect">
            <a:avLst/>
          </a:prstGeom>
          <a:noFill/>
        </p:spPr>
        <p:txBody>
          <a:bodyPr wrap="none">
            <a:spAutoFit/>
          </a:bodyPr>
          <a:lstStyle/>
          <a:p>
            <a:pPr algn="l">
              <a:lnSpc>
                <a:spcPct val="115000"/>
              </a:lnSpc>
              <a:spcAft>
                <a:spcPts val="300"/>
              </a:spcAft>
              <a:defRPr sz="1400">
                <a:solidFill>
                  <a:srgbClr val="DCDCDC"/>
                </a:solidFill>
                <a:latin typeface="Consolas"/>
              </a:defRPr>
            </a:pPr>
            <a:r>
              <a:t># Fetch latest changes from remote</a:t>
            </a:r>
          </a:p>
          <a:p>
            <a:pPr algn="l">
              <a:lnSpc>
                <a:spcPct val="115000"/>
              </a:lnSpc>
              <a:spcAft>
                <a:spcPts val="300"/>
              </a:spcAft>
              <a:defRPr sz="1400">
                <a:solidFill>
                  <a:srgbClr val="DCDCDC"/>
                </a:solidFill>
                <a:latin typeface="Consolas"/>
              </a:defRPr>
            </a:pPr>
            <a:r>
              <a:t>git fetch origin</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 Merge main into your feature branch</a:t>
            </a:r>
          </a:p>
          <a:p>
            <a:pPr algn="l">
              <a:lnSpc>
                <a:spcPct val="115000"/>
              </a:lnSpc>
              <a:spcAft>
                <a:spcPts val="300"/>
              </a:spcAft>
              <a:defRPr sz="1400">
                <a:solidFill>
                  <a:srgbClr val="DCDCDC"/>
                </a:solidFill>
                <a:latin typeface="Consolas"/>
              </a:defRPr>
            </a:pPr>
            <a:r>
              <a:t>git merge origin/main</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 If conflicts: resolve, then</a:t>
            </a:r>
          </a:p>
          <a:p>
            <a:pPr algn="l">
              <a:lnSpc>
                <a:spcPct val="115000"/>
              </a:lnSpc>
              <a:spcAft>
                <a:spcPts val="300"/>
              </a:spcAft>
              <a:defRPr sz="1400">
                <a:solidFill>
                  <a:srgbClr val="DCDCDC"/>
                </a:solidFill>
                <a:latin typeface="Consolas"/>
              </a:defRPr>
            </a:pPr>
            <a:r>
              <a:t>git add &lt;resolved-files&gt;</a:t>
            </a:r>
          </a:p>
          <a:p>
            <a:pPr algn="l">
              <a:lnSpc>
                <a:spcPct val="115000"/>
              </a:lnSpc>
              <a:spcAft>
                <a:spcPts val="300"/>
              </a:spcAft>
              <a:defRPr sz="1400">
                <a:solidFill>
                  <a:srgbClr val="DCDCDC"/>
                </a:solidFill>
                <a:latin typeface="Consolas"/>
              </a:defRPr>
            </a:pPr>
            <a:r>
              <a:t>git merge --continue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Commit Convention</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Format: </a:t>
            </a:r>
            <a:r>
              <a:rPr sz="2000">
                <a:solidFill>
                  <a:srgbClr val="404040"/>
                </a:solidFill>
                <a:latin typeface="Consolas"/>
              </a:rPr>
              <a:t>#&lt;issue&gt; &lt;type&gt;(&lt;scope&gt;): &lt;description&gt;</a:t>
            </a:r>
          </a:p>
          <a:p>
            <a:pPr>
              <a:spcAft>
                <a:spcPts val="1200"/>
              </a:spcAft>
            </a:pPr>
            <a:r>
              <a:rPr sz="2000">
                <a:solidFill>
                  <a:srgbClr val="404040"/>
                </a:solidFill>
              </a:rPr>
              <a:t>• Types: </a:t>
            </a:r>
            <a:r>
              <a:rPr sz="2000">
                <a:solidFill>
                  <a:srgbClr val="404040"/>
                </a:solidFill>
                <a:latin typeface="Consolas"/>
              </a:rPr>
              <a:t>feat</a:t>
            </a:r>
            <a:r>
              <a:rPr sz="2000">
                <a:solidFill>
                  <a:srgbClr val="404040"/>
                </a:solidFill>
              </a:rPr>
              <a:t>, </a:t>
            </a:r>
            <a:r>
              <a:rPr sz="2000">
                <a:solidFill>
                  <a:srgbClr val="404040"/>
                </a:solidFill>
                <a:latin typeface="Consolas"/>
              </a:rPr>
              <a:t>fix</a:t>
            </a:r>
            <a:r>
              <a:rPr sz="2000">
                <a:solidFill>
                  <a:srgbClr val="404040"/>
                </a:solidFill>
              </a:rPr>
              <a:t>, </a:t>
            </a:r>
            <a:r>
              <a:rPr sz="2000">
                <a:solidFill>
                  <a:srgbClr val="404040"/>
                </a:solidFill>
                <a:latin typeface="Consolas"/>
              </a:rPr>
              <a:t>docs</a:t>
            </a:r>
            <a:r>
              <a:rPr sz="2000">
                <a:solidFill>
                  <a:srgbClr val="404040"/>
                </a:solidFill>
              </a:rPr>
              <a:t>, </a:t>
            </a:r>
            <a:r>
              <a:rPr sz="2000">
                <a:solidFill>
                  <a:srgbClr val="404040"/>
                </a:solidFill>
                <a:latin typeface="Consolas"/>
              </a:rPr>
              <a:t>test</a:t>
            </a:r>
            <a:r>
              <a:rPr sz="2000">
                <a:solidFill>
                  <a:srgbClr val="404040"/>
                </a:solidFill>
              </a:rPr>
              <a:t>, </a:t>
            </a:r>
            <a:r>
              <a:rPr sz="2000">
                <a:solidFill>
                  <a:srgbClr val="404040"/>
                </a:solidFill>
                <a:latin typeface="Consolas"/>
              </a:rPr>
              <a:t>refactor</a:t>
            </a:r>
            <a:r>
              <a:rPr sz="2000">
                <a:solidFill>
                  <a:srgbClr val="404040"/>
                </a:solidFill>
              </a:rPr>
              <a:t>, </a:t>
            </a:r>
            <a:r>
              <a:rPr sz="2000">
                <a:solidFill>
                  <a:srgbClr val="404040"/>
                </a:solidFill>
                <a:latin typeface="Consolas"/>
              </a:rPr>
              <a:t>style</a:t>
            </a:r>
            <a:r>
              <a:rPr sz="2000">
                <a:solidFill>
                  <a:srgbClr val="404040"/>
                </a:solidFill>
              </a:rPr>
              <a:t>, </a:t>
            </a:r>
            <a:r>
              <a:rPr sz="2000">
                <a:solidFill>
                  <a:srgbClr val="404040"/>
                </a:solidFill>
                <a:latin typeface="Consolas"/>
              </a:rPr>
              <a:t>perf</a:t>
            </a:r>
            <a:r>
              <a:rPr sz="2000">
                <a:solidFill>
                  <a:srgbClr val="404040"/>
                </a:solidFill>
              </a:rPr>
              <a:t>, </a:t>
            </a:r>
            <a:r>
              <a:rPr sz="2000">
                <a:solidFill>
                  <a:srgbClr val="404040"/>
                </a:solidFill>
                <a:latin typeface="Consolas"/>
              </a:rPr>
              <a:t>chore</a:t>
            </a:r>
            <a:r>
              <a:rPr sz="2000">
                <a:solidFill>
                  <a:srgbClr val="404040"/>
                </a:solidFill>
              </a:rPr>
              <a:t>, </a:t>
            </a:r>
            <a:r>
              <a:rPr sz="2000">
                <a:solidFill>
                  <a:srgbClr val="404040"/>
                </a:solidFill>
                <a:latin typeface="Consolas"/>
              </a:rPr>
              <a:t>ci</a:t>
            </a:r>
          </a:p>
          <a:p>
            <a:pPr>
              <a:spcAft>
                <a:spcPts val="1200"/>
              </a:spcAft>
            </a:pPr>
            <a:r>
              <a:rPr sz="2000">
                <a:solidFill>
                  <a:srgbClr val="404040"/>
                </a:solidFill>
              </a:rPr>
              <a:t>• Scope is mandatory and lowercase</a:t>
            </a:r>
          </a:p>
          <a:p>
            <a:pPr>
              <a:spcAft>
                <a:spcPts val="1200"/>
              </a:spcAft>
            </a:pPr>
            <a:r>
              <a:rPr sz="2000">
                <a:solidFill>
                  <a:srgbClr val="404040"/>
                </a:solidFill>
              </a:rPr>
              <a:t>• Subject line in imperative mood: "add", not "added"</a:t>
            </a:r>
          </a:p>
          <a:p>
            <a:pPr>
              <a:spcAft>
                <a:spcPts val="1200"/>
              </a:spcAft>
            </a:pPr>
            <a:r>
              <a:rPr sz="2000">
                <a:solidFill>
                  <a:srgbClr val="404040"/>
                </a:solidFill>
              </a:rPr>
              <a:t>• Reference the GitHub issue number at the start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82C34"/>
        </a:solidFill>
        <a:effectLst/>
      </p:bgPr>
    </p:bg>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lgn="l">
              <a:defRPr sz="2800" b="1">
                <a:solidFill>
                  <a:srgbClr val="FFFFFF"/>
                </a:solidFill>
              </a:defRPr>
            </a:pPr>
            <a:r>
              <a:t>Good vs Bad Commits</a:t>
            </a:r>
          </a:p>
        </p:txBody>
      </p:sp>
      <p:sp>
        <p:nvSpPr>
          <p:cNvPr id="3" name="TextBox 2"/>
          <p:cNvSpPr txBox="1"/>
          <p:nvPr/>
        </p:nvSpPr>
        <p:spPr>
          <a:xfrm>
            <a:off x="457200" y="1097280"/>
            <a:ext cx="11277295" cy="5303520"/>
          </a:xfrm>
          <a:prstGeom prst="rect">
            <a:avLst/>
          </a:prstGeom>
          <a:noFill/>
        </p:spPr>
        <p:txBody>
          <a:bodyPr wrap="none">
            <a:spAutoFit/>
          </a:bodyPr>
          <a:lstStyle/>
          <a:p>
            <a:pPr algn="l">
              <a:lnSpc>
                <a:spcPct val="115000"/>
              </a:lnSpc>
              <a:spcAft>
                <a:spcPts val="300"/>
              </a:spcAft>
              <a:defRPr sz="1400">
                <a:solidFill>
                  <a:srgbClr val="DCDCDC"/>
                </a:solidFill>
                <a:latin typeface="Consolas"/>
              </a:defRPr>
            </a:pPr>
            <a:r>
              <a:t># Bad — no issue, no type, no scope, vague</a:t>
            </a:r>
          </a:p>
          <a:p>
            <a:pPr algn="l">
              <a:lnSpc>
                <a:spcPct val="115000"/>
              </a:lnSpc>
              <a:spcAft>
                <a:spcPts val="300"/>
              </a:spcAft>
              <a:defRPr sz="1400">
                <a:solidFill>
                  <a:srgbClr val="DCDCDC"/>
                </a:solidFill>
                <a:latin typeface="Consolas"/>
              </a:defRPr>
            </a:pPr>
            <a:r>
              <a:t>git commit -m "fix stuff"</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 Good — traceable, typed, scoped, descriptive</a:t>
            </a:r>
          </a:p>
          <a:p>
            <a:pPr algn="l">
              <a:lnSpc>
                <a:spcPct val="115000"/>
              </a:lnSpc>
              <a:spcAft>
                <a:spcPts val="300"/>
              </a:spcAft>
              <a:defRPr sz="1400">
                <a:solidFill>
                  <a:srgbClr val="DCDCDC"/>
                </a:solidFill>
                <a:latin typeface="Consolas"/>
              </a:defRPr>
            </a:pPr>
            <a:r>
              <a:t>git commit -m "#42 feat(auth): add OAuth2 login endpoint"</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 With body to auto-close issue</a:t>
            </a:r>
          </a:p>
          <a:p>
            <a:pPr algn="l">
              <a:lnSpc>
                <a:spcPct val="115000"/>
              </a:lnSpc>
              <a:spcAft>
                <a:spcPts val="300"/>
              </a:spcAft>
              <a:defRPr sz="1400">
                <a:solidFill>
                  <a:srgbClr val="DCDCDC"/>
                </a:solidFill>
                <a:latin typeface="Consolas"/>
              </a:defRPr>
            </a:pPr>
            <a:r>
              <a:t>git commit -m "#42 feat(auth): add OAuth2 login endpoint</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Closes #42"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GitHub Issues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Every piece of work starts with an issue</a:t>
            </a:r>
          </a:p>
          <a:p>
            <a:pPr>
              <a:spcAft>
                <a:spcPts val="1200"/>
              </a:spcAft>
            </a:pPr>
            <a:r>
              <a:rPr sz="2000">
                <a:solidFill>
                  <a:srgbClr val="404040"/>
                </a:solidFill>
              </a:rPr>
              <a:t>• Type prefixes: </a:t>
            </a:r>
            <a:r>
              <a:rPr sz="2000">
                <a:solidFill>
                  <a:srgbClr val="404040"/>
                </a:solidFill>
                <a:latin typeface="Consolas"/>
              </a:rPr>
              <a:t>[FEAT]</a:t>
            </a:r>
            <a:r>
              <a:rPr sz="2000">
                <a:solidFill>
                  <a:srgbClr val="404040"/>
                </a:solidFill>
              </a:rPr>
              <a:t>, </a:t>
            </a:r>
            <a:r>
              <a:rPr sz="2000">
                <a:solidFill>
                  <a:srgbClr val="404040"/>
                </a:solidFill>
                <a:latin typeface="Consolas"/>
              </a:rPr>
              <a:t>[BUG]</a:t>
            </a:r>
            <a:r>
              <a:rPr sz="2000">
                <a:solidFill>
                  <a:srgbClr val="404040"/>
                </a:solidFill>
              </a:rPr>
              <a:t>, </a:t>
            </a:r>
            <a:r>
              <a:rPr sz="2000">
                <a:solidFill>
                  <a:srgbClr val="404040"/>
                </a:solidFill>
                <a:latin typeface="Consolas"/>
              </a:rPr>
              <a:t>[DOCS]</a:t>
            </a:r>
            <a:r>
              <a:rPr sz="2000">
                <a:solidFill>
                  <a:srgbClr val="404040"/>
                </a:solidFill>
              </a:rPr>
              <a:t>, </a:t>
            </a:r>
            <a:r>
              <a:rPr sz="2000">
                <a:solidFill>
                  <a:srgbClr val="404040"/>
                </a:solidFill>
                <a:latin typeface="Consolas"/>
              </a:rPr>
              <a:t>[INFRA]</a:t>
            </a:r>
          </a:p>
          <a:p>
            <a:pPr>
              <a:spcAft>
                <a:spcPts val="1200"/>
              </a:spcAft>
            </a:pPr>
            <a:r>
              <a:rPr sz="2000">
                <a:solidFill>
                  <a:srgbClr val="404040"/>
                </a:solidFill>
              </a:rPr>
              <a:t>• Required sections: Description, Problem/Goal, Proposed Solution</a:t>
            </a:r>
          </a:p>
          <a:p>
            <a:pPr>
              <a:spcAft>
                <a:spcPts val="1200"/>
              </a:spcAft>
            </a:pPr>
            <a:r>
              <a:rPr sz="2000">
                <a:solidFill>
                  <a:srgbClr val="404040"/>
                </a:solidFill>
              </a:rPr>
              <a:t>• Acceptance Criteria with checkboxes = Definition of Done</a:t>
            </a:r>
          </a:p>
          <a:p>
            <a:pPr>
              <a:spcAft>
                <a:spcPts val="1200"/>
              </a:spcAft>
            </a:pPr>
            <a:r>
              <a:rPr sz="2000">
                <a:solidFill>
                  <a:srgbClr val="404040"/>
                </a:solidFill>
              </a:rPr>
              <a:t>• Labels: type, component, priority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82C34"/>
        </a:solidFill>
        <a:effectLst/>
      </p:bgPr>
    </p:bg>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lgn="l">
              <a:defRPr sz="2800" b="1">
                <a:solidFill>
                  <a:srgbClr val="FFFFFF"/>
                </a:solidFill>
              </a:defRPr>
            </a:pPr>
            <a:r>
              <a:t>Issue Template</a:t>
            </a:r>
          </a:p>
        </p:txBody>
      </p:sp>
      <p:sp>
        <p:nvSpPr>
          <p:cNvPr id="3" name="TextBox 2"/>
          <p:cNvSpPr txBox="1"/>
          <p:nvPr/>
        </p:nvSpPr>
        <p:spPr>
          <a:xfrm>
            <a:off x="457200" y="1097280"/>
            <a:ext cx="11277295" cy="5303520"/>
          </a:xfrm>
          <a:prstGeom prst="rect">
            <a:avLst/>
          </a:prstGeom>
          <a:noFill/>
        </p:spPr>
        <p:txBody>
          <a:bodyPr wrap="none">
            <a:spAutoFit/>
          </a:bodyPr>
          <a:lstStyle/>
          <a:p>
            <a:pPr algn="l">
              <a:lnSpc>
                <a:spcPct val="115000"/>
              </a:lnSpc>
              <a:spcAft>
                <a:spcPts val="300"/>
              </a:spcAft>
              <a:defRPr sz="1400">
                <a:solidFill>
                  <a:srgbClr val="DCDCDC"/>
                </a:solidFill>
                <a:latin typeface="Consolas"/>
              </a:defRPr>
            </a:pPr>
            <a:r>
              <a:t>[FEAT] Brief descriptive title</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 📋 Description</a:t>
            </a:r>
          </a:p>
          <a:p>
            <a:pPr algn="l">
              <a:lnSpc>
                <a:spcPct val="115000"/>
              </a:lnSpc>
              <a:spcAft>
                <a:spcPts val="300"/>
              </a:spcAft>
              <a:defRPr sz="1400">
                <a:solidFill>
                  <a:srgbClr val="DCDCDC"/>
                </a:solidFill>
                <a:latin typeface="Consolas"/>
              </a:defRPr>
            </a:pPr>
            <a:r>
              <a:t>What needs to be done.</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 🎯 Problem/Goal</a:t>
            </a:r>
          </a:p>
          <a:p>
            <a:pPr algn="l">
              <a:lnSpc>
                <a:spcPct val="115000"/>
              </a:lnSpc>
              <a:spcAft>
                <a:spcPts val="300"/>
              </a:spcAft>
              <a:defRPr sz="1400">
                <a:solidFill>
                  <a:srgbClr val="DCDCDC"/>
                </a:solidFill>
                <a:latin typeface="Consolas"/>
              </a:defRPr>
            </a:pPr>
            <a:r>
              <a:t>Why this matters.</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 💡 Proposed Solution</a:t>
            </a:r>
          </a:p>
          <a:p>
            <a:pPr algn="l">
              <a:lnSpc>
                <a:spcPct val="115000"/>
              </a:lnSpc>
              <a:spcAft>
                <a:spcPts val="300"/>
              </a:spcAft>
              <a:defRPr sz="1400">
                <a:solidFill>
                  <a:srgbClr val="DCDCDC"/>
                </a:solidFill>
                <a:latin typeface="Consolas"/>
              </a:defRPr>
            </a:pPr>
            <a:r>
              <a:t>How to approach it.</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 ✅ Acceptance Criteria</a:t>
            </a:r>
          </a:p>
          <a:p>
            <a:pPr algn="l">
              <a:lnSpc>
                <a:spcPct val="115000"/>
              </a:lnSpc>
              <a:spcAft>
                <a:spcPts val="300"/>
              </a:spcAft>
              <a:defRPr sz="1400">
                <a:solidFill>
                  <a:srgbClr val="DCDCDC"/>
                </a:solidFill>
                <a:latin typeface="Consolas"/>
              </a:defRPr>
            </a:pPr>
            <a:r>
              <a:t>- [ ] Criterion 1</a:t>
            </a:r>
          </a:p>
          <a:p>
            <a:pPr algn="l">
              <a:lnSpc>
                <a:spcPct val="115000"/>
              </a:lnSpc>
              <a:spcAft>
                <a:spcPts val="300"/>
              </a:spcAft>
              <a:defRPr sz="1400">
                <a:solidFill>
                  <a:srgbClr val="DCDCDC"/>
                </a:solidFill>
                <a:latin typeface="Consolas"/>
              </a:defRPr>
            </a:pPr>
            <a:r>
              <a:t>- [ ] Criterion 2</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 🏷️ Labels</a:t>
            </a:r>
          </a:p>
          <a:p>
            <a:pPr algn="l">
              <a:lnSpc>
                <a:spcPct val="115000"/>
              </a:lnSpc>
              <a:spcAft>
                <a:spcPts val="300"/>
              </a:spcAft>
              <a:defRPr sz="1400">
                <a:solidFill>
                  <a:srgbClr val="DCDCDC"/>
                </a:solidFill>
                <a:latin typeface="Consolas"/>
              </a:defRPr>
            </a:pPr>
            <a:r>
              <a:t>- Type: enhancement</a:t>
            </a:r>
          </a:p>
          <a:p>
            <a:pPr algn="l">
              <a:lnSpc>
                <a:spcPct val="115000"/>
              </a:lnSpc>
              <a:spcAft>
                <a:spcPts val="300"/>
              </a:spcAft>
              <a:defRPr sz="1400">
                <a:solidFill>
                  <a:srgbClr val="DCDCDC"/>
                </a:solidFill>
                <a:latin typeface="Consolas"/>
              </a:defRPr>
            </a:pPr>
            <a:r>
              <a:t>- Component: backend</a:t>
            </a:r>
          </a:p>
          <a:p>
            <a:pPr algn="l">
              <a:lnSpc>
                <a:spcPct val="115000"/>
              </a:lnSpc>
              <a:spcAft>
                <a:spcPts val="300"/>
              </a:spcAft>
              <a:defRPr sz="1400">
                <a:solidFill>
                  <a:srgbClr val="DCDCDC"/>
                </a:solidFill>
                <a:latin typeface="Consolas"/>
              </a:defRPr>
            </a:pPr>
            <a:r>
              <a:t>- Priority: priority/high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Pull Requests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A request to merge your branch into </a:t>
            </a:r>
            <a:r>
              <a:rPr sz="2000">
                <a:solidFill>
                  <a:srgbClr val="404040"/>
                </a:solidFill>
                <a:latin typeface="Consolas"/>
              </a:rPr>
              <a:t>main</a:t>
            </a:r>
          </a:p>
          <a:p>
            <a:pPr>
              <a:spcAft>
                <a:spcPts val="1200"/>
              </a:spcAft>
            </a:pPr>
            <a:r>
              <a:rPr sz="2000">
                <a:solidFill>
                  <a:srgbClr val="404040"/>
                </a:solidFill>
              </a:rPr>
              <a:t>• Where code review happens</a:t>
            </a:r>
          </a:p>
          <a:p>
            <a:pPr>
              <a:spcAft>
                <a:spcPts val="1200"/>
              </a:spcAft>
            </a:pPr>
            <a:r>
              <a:rPr sz="2000">
                <a:solidFill>
                  <a:srgbClr val="404040"/>
                </a:solidFill>
              </a:rPr>
              <a:t>• Must link to issue with </a:t>
            </a:r>
            <a:r>
              <a:rPr sz="2000">
                <a:solidFill>
                  <a:srgbClr val="404040"/>
                </a:solidFill>
                <a:latin typeface="Consolas"/>
              </a:rPr>
              <a:t>Closes #N</a:t>
            </a:r>
          </a:p>
          <a:p>
            <a:pPr>
              <a:spcAft>
                <a:spcPts val="1200"/>
              </a:spcAft>
            </a:pPr>
            <a:r>
              <a:rPr sz="2000">
                <a:solidFill>
                  <a:srgbClr val="404040"/>
                </a:solidFill>
              </a:rPr>
              <a:t>• Keep PRs small and focused — one feature or fix</a:t>
            </a:r>
          </a:p>
          <a:p>
            <a:pPr>
              <a:spcAft>
                <a:spcPts val="1200"/>
              </a:spcAft>
            </a:pPr>
            <a:r>
              <a:rPr sz="2000">
                <a:solidFill>
                  <a:srgbClr val="404040"/>
                </a:solidFill>
              </a:rPr>
              <a:t>• Only add reviewers after CI/CD checks pass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82C34"/>
        </a:solidFill>
        <a:effectLst/>
      </p:bgPr>
    </p:bg>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lgn="l">
              <a:defRPr sz="2800" b="1">
                <a:solidFill>
                  <a:srgbClr val="FFFFFF"/>
                </a:solidFill>
              </a:defRPr>
            </a:pPr>
            <a:r>
              <a:t>PR Template</a:t>
            </a:r>
          </a:p>
        </p:txBody>
      </p:sp>
      <p:sp>
        <p:nvSpPr>
          <p:cNvPr id="3" name="TextBox 2"/>
          <p:cNvSpPr txBox="1"/>
          <p:nvPr/>
        </p:nvSpPr>
        <p:spPr>
          <a:xfrm>
            <a:off x="457200" y="1097280"/>
            <a:ext cx="11277295" cy="5303520"/>
          </a:xfrm>
          <a:prstGeom prst="rect">
            <a:avLst/>
          </a:prstGeom>
          <a:noFill/>
        </p:spPr>
        <p:txBody>
          <a:bodyPr wrap="none">
            <a:spAutoFit/>
          </a:bodyPr>
          <a:lstStyle/>
          <a:p>
            <a:pPr algn="l">
              <a:lnSpc>
                <a:spcPct val="115000"/>
              </a:lnSpc>
              <a:spcAft>
                <a:spcPts val="300"/>
              </a:spcAft>
              <a:defRPr sz="1400">
                <a:solidFill>
                  <a:srgbClr val="DCDCDC"/>
                </a:solidFill>
                <a:latin typeface="Consolas"/>
              </a:defRPr>
            </a:pPr>
            <a:r>
              <a:t>#42 [FEAT] Brief descriptive title</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 Related Issue</a:t>
            </a:r>
          </a:p>
          <a:p>
            <a:pPr algn="l">
              <a:lnSpc>
                <a:spcPct val="115000"/>
              </a:lnSpc>
              <a:spcAft>
                <a:spcPts val="300"/>
              </a:spcAft>
              <a:defRPr sz="1400">
                <a:solidFill>
                  <a:srgbClr val="DCDCDC"/>
                </a:solidFill>
                <a:latin typeface="Consolas"/>
              </a:defRPr>
            </a:pPr>
            <a:r>
              <a:t>Closes #42</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 Changes</a:t>
            </a:r>
          </a:p>
          <a:p>
            <a:pPr algn="l">
              <a:lnSpc>
                <a:spcPct val="115000"/>
              </a:lnSpc>
              <a:spcAft>
                <a:spcPts val="300"/>
              </a:spcAft>
              <a:defRPr sz="1400">
                <a:solidFill>
                  <a:srgbClr val="DCDCDC"/>
                </a:solidFill>
                <a:latin typeface="Consolas"/>
              </a:defRPr>
            </a:pPr>
            <a:r>
              <a:t>- Change 1</a:t>
            </a:r>
          </a:p>
          <a:p>
            <a:pPr algn="l">
              <a:lnSpc>
                <a:spcPct val="115000"/>
              </a:lnSpc>
              <a:spcAft>
                <a:spcPts val="300"/>
              </a:spcAft>
              <a:defRPr sz="1400">
                <a:solidFill>
                  <a:srgbClr val="DCDCDC"/>
                </a:solidFill>
                <a:latin typeface="Consolas"/>
              </a:defRPr>
            </a:pPr>
            <a:r>
              <a:t>- Change 2</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 Testing</a:t>
            </a:r>
          </a:p>
          <a:p>
            <a:pPr algn="l">
              <a:lnSpc>
                <a:spcPct val="115000"/>
              </a:lnSpc>
              <a:spcAft>
                <a:spcPts val="300"/>
              </a:spcAft>
              <a:defRPr sz="1400">
                <a:solidFill>
                  <a:srgbClr val="DCDCDC"/>
                </a:solidFill>
                <a:latin typeface="Consolas"/>
              </a:defRPr>
            </a:pPr>
            <a:r>
              <a:t>- [ ] Tested locally</a:t>
            </a:r>
          </a:p>
          <a:p>
            <a:pPr algn="l">
              <a:lnSpc>
                <a:spcPct val="115000"/>
              </a:lnSpc>
              <a:spcAft>
                <a:spcPts val="300"/>
              </a:spcAft>
              <a:defRPr sz="1400">
                <a:solidFill>
                  <a:srgbClr val="DCDCDC"/>
                </a:solidFill>
                <a:latin typeface="Consolas"/>
              </a:defRPr>
            </a:pPr>
            <a:r>
              <a:t>- [ ] Tests pass</a:t>
            </a:r>
          </a:p>
          <a:p>
            <a:pPr algn="l">
              <a:lnSpc>
                <a:spcPct val="115000"/>
              </a:lnSpc>
              <a:spcAft>
                <a:spcPts val="300"/>
              </a:spcAft>
              <a:defRPr sz="1400">
                <a:solidFill>
                  <a:srgbClr val="DCDCDC"/>
                </a:solidFill>
                <a:latin typeface="Consolas"/>
              </a:defRPr>
            </a:pPr>
            <a:r>
              <a:t>- [ ] Pre-commit hooks pass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Why Monorepo?</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Single source of truth — all code, config, and docs in one place</a:t>
            </a:r>
          </a:p>
          <a:p>
            <a:pPr>
              <a:spcAft>
                <a:spcPts val="1200"/>
              </a:spcAft>
            </a:pPr>
            <a:r>
              <a:rPr sz="2000">
                <a:solidFill>
                  <a:srgbClr val="404040"/>
                </a:solidFill>
              </a:rPr>
              <a:t>• Atomic changes — one commit updates API + frontend + docs</a:t>
            </a:r>
          </a:p>
          <a:p>
            <a:pPr>
              <a:spcAft>
                <a:spcPts val="1200"/>
              </a:spcAft>
            </a:pPr>
            <a:r>
              <a:rPr sz="2000">
                <a:solidFill>
                  <a:srgbClr val="404040"/>
                </a:solidFill>
              </a:rPr>
              <a:t>• Shared tooling — one set of linting rules, CI/CD, pre-commit hooks</a:t>
            </a:r>
          </a:p>
          <a:p>
            <a:pPr>
              <a:spcAft>
                <a:spcPts val="1200"/>
              </a:spcAft>
            </a:pPr>
            <a:r>
              <a:rPr sz="2000">
                <a:solidFill>
                  <a:srgbClr val="404040"/>
                </a:solidFill>
              </a:rPr>
              <a:t>• Easier refactoring — rename across projects in one PR</a:t>
            </a:r>
          </a:p>
          <a:p>
            <a:pPr>
              <a:spcAft>
                <a:spcPts val="1200"/>
              </a:spcAft>
            </a:pPr>
            <a:r>
              <a:rPr sz="2000">
                <a:solidFill>
                  <a:srgbClr val="404040"/>
                </a:solidFill>
              </a:rPr>
              <a:t>• Consistent standards — everyone follows the same conventions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Everything as Code</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a:t>
            </a:r>
            <a:r>
              <a:rPr b="1" sz="2000">
                <a:solidFill>
                  <a:srgbClr val="404040"/>
                </a:solidFill>
              </a:rPr>
              <a:t>Documentation as Code</a:t>
            </a:r>
            <a:r>
              <a:rPr sz="2000">
                <a:solidFill>
                  <a:srgbClr val="404040"/>
                </a:solidFill>
              </a:rPr>
              <a:t> — Markdown files next to your source code, versioned together</a:t>
            </a:r>
          </a:p>
          <a:p>
            <a:pPr>
              <a:spcAft>
                <a:spcPts val="1200"/>
              </a:spcAft>
            </a:pPr>
            <a:r>
              <a:rPr sz="2000">
                <a:solidFill>
                  <a:srgbClr val="404040"/>
                </a:solidFill>
              </a:rPr>
              <a:t>• </a:t>
            </a:r>
            <a:r>
              <a:rPr b="1" sz="2000">
                <a:solidFill>
                  <a:srgbClr val="404040"/>
                </a:solidFill>
              </a:rPr>
              <a:t>Infrastructure as Code</a:t>
            </a:r>
            <a:r>
              <a:rPr sz="2000">
                <a:solidFill>
                  <a:srgbClr val="404040"/>
                </a:solidFill>
              </a:rPr>
              <a:t> — CloudFormation, SAM, Terraform in the same repo</a:t>
            </a:r>
          </a:p>
          <a:p>
            <a:pPr>
              <a:spcAft>
                <a:spcPts val="1200"/>
              </a:spcAft>
            </a:pPr>
            <a:r>
              <a:rPr sz="2000">
                <a:solidFill>
                  <a:srgbClr val="404040"/>
                </a:solidFill>
              </a:rPr>
              <a:t>• </a:t>
            </a:r>
            <a:r>
              <a:rPr b="1" sz="2000">
                <a:solidFill>
                  <a:srgbClr val="404040"/>
                </a:solidFill>
              </a:rPr>
              <a:t>Configuration as Code</a:t>
            </a:r>
            <a:r>
              <a:rPr sz="2000">
                <a:solidFill>
                  <a:srgbClr val="404040"/>
                </a:solidFill>
              </a:rPr>
              <a:t> — CI/CD pipelines, linter rules, deploy configs</a:t>
            </a:r>
          </a:p>
          <a:p>
            <a:pPr>
              <a:spcAft>
                <a:spcPts val="1200"/>
              </a:spcAft>
            </a:pPr>
            <a:r>
              <a:rPr sz="2000">
                <a:solidFill>
                  <a:srgbClr val="404040"/>
                </a:solidFill>
              </a:rPr>
              <a:t>• </a:t>
            </a:r>
            <a:r>
              <a:rPr b="1" sz="2000">
                <a:solidFill>
                  <a:srgbClr val="404040"/>
                </a:solidFill>
              </a:rPr>
              <a:t>Diagrams as Code</a:t>
            </a:r>
            <a:r>
              <a:rPr sz="2000">
                <a:solidFill>
                  <a:srgbClr val="404040"/>
                </a:solidFill>
              </a:rPr>
              <a:t> — PlantUML, Mermaid committed alongside architecture docs</a:t>
            </a:r>
          </a:p>
          <a:p>
            <a:pPr>
              <a:spcAft>
                <a:spcPts val="1200"/>
              </a:spcAft>
            </a:pPr>
            <a:r>
              <a:rPr sz="2000">
                <a:solidFill>
                  <a:srgbClr val="404040"/>
                </a:solidFill>
              </a:rPr>
              <a:t>• </a:t>
            </a:r>
            <a:r>
              <a:rPr b="1" sz="2000">
                <a:solidFill>
                  <a:srgbClr val="404040"/>
                </a:solidFill>
              </a:rPr>
              <a:t>Test Reports as Code</a:t>
            </a:r>
            <a:r>
              <a:rPr sz="2000">
                <a:solidFill>
                  <a:srgbClr val="404040"/>
                </a:solidFill>
              </a:rPr>
              <a:t> — test results generated from code, tracked in version control</a:t>
            </a:r>
          </a:p>
          <a:p>
            <a:pPr>
              <a:spcAft>
                <a:spcPts val="1200"/>
              </a:spcAft>
            </a:pPr>
            <a:r>
              <a:rPr sz="2000">
                <a:solidFill>
                  <a:srgbClr val="404040"/>
                </a:solidFill>
              </a:rPr>
              <a:t>• One commit = code + docs + infra + config, always in sync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371600"/>
            <a:ext cx="3657600" cy="1828800"/>
          </a:xfrm>
          <a:prstGeom prst="rect">
            <a:avLst/>
          </a:prstGeom>
          <a:noFill/>
        </p:spPr>
        <p:txBody>
          <a:bodyPr wrap="none">
            <a:spAutoFit/>
          </a:bodyPr>
          <a:lstStyle/>
          <a:p>
            <a:pPr algn="ctr">
              <a:defRPr sz="12000" b="1">
                <a:solidFill>
                  <a:srgbClr val="FF7F00"/>
                </a:solidFill>
              </a:defRPr>
            </a:pPr>
            <a:r>
              <a:t>🛡️</a:t>
            </a:r>
          </a:p>
        </p:txBody>
      </p:sp>
      <p:sp>
        <p:nvSpPr>
          <p:cNvPr id="3" name="TextBox 2"/>
          <p:cNvSpPr txBox="1"/>
          <p:nvPr/>
        </p:nvSpPr>
        <p:spPr>
          <a:xfrm>
            <a:off x="5029200" y="1828800"/>
            <a:ext cx="6248095" cy="914400"/>
          </a:xfrm>
          <a:prstGeom prst="rect">
            <a:avLst/>
          </a:prstGeom>
          <a:noFill/>
        </p:spPr>
        <p:txBody>
          <a:bodyPr wrap="none">
            <a:spAutoFit/>
          </a:bodyPr>
          <a:lstStyle/>
          <a:p>
            <a:pPr>
              <a:defRPr sz="3600" b="1">
                <a:solidFill>
                  <a:srgbClr val="1F3864"/>
                </a:solidFill>
              </a:defRPr>
            </a:pPr>
            <a:r>
              <a:t>Pre-commit Hooks</a:t>
            </a:r>
          </a:p>
        </p:txBody>
      </p:sp>
      <p:sp>
        <p:nvSpPr>
          <p:cNvPr id="4" name="TextBox 3"/>
          <p:cNvSpPr txBox="1"/>
          <p:nvPr/>
        </p:nvSpPr>
        <p:spPr>
          <a:xfrm>
            <a:off x="5029200" y="2926080"/>
            <a:ext cx="6248095" cy="3200400"/>
          </a:xfrm>
          <a:prstGeom prst="rect">
            <a:avLst/>
          </a:prstGeom>
          <a:noFill/>
        </p:spPr>
        <p:txBody>
          <a:bodyPr wrap="square">
            <a:spAutoFit/>
          </a:bodyPr>
          <a:lstStyle/>
          <a:p>
            <a:r>
              <a:rPr sz="1800">
                <a:solidFill>
                  <a:srgbClr val="404040"/>
                </a:solidFill>
              </a:rPr>
              <a:t>Local quality safeguard. Catches problems before code reaches CI/CD.
Saves CI/CD minutes (real money) and gives instant feedback (&lt; 5 seconds).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What Hooks Check</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What Pre-commit Hooks Check</a:t>
            </a:r>
          </a:p>
          <a:p>
            <a:pPr>
              <a:spcAft>
                <a:spcPts val="1200"/>
              </a:spcAft>
            </a:pPr>
            <a:r>
              <a:rPr sz="2000">
                <a:solidFill>
                  <a:srgbClr val="404040"/>
                </a:solidFill>
              </a:rPr>
              <a:t>• Trailing whitespace and end-of-file fixes</a:t>
            </a:r>
          </a:p>
          <a:p>
            <a:pPr>
              <a:spcAft>
                <a:spcPts val="1200"/>
              </a:spcAft>
            </a:pPr>
            <a:r>
              <a:rPr sz="2000">
                <a:solidFill>
                  <a:srgbClr val="404040"/>
                </a:solidFill>
              </a:rPr>
              <a:t>• YAML, JSON, TOML validation</a:t>
            </a:r>
          </a:p>
          <a:p>
            <a:pPr>
              <a:spcAft>
                <a:spcPts val="1200"/>
              </a:spcAft>
            </a:pPr>
            <a:r>
              <a:rPr sz="2000">
                <a:solidFill>
                  <a:srgbClr val="404040"/>
                </a:solidFill>
              </a:rPr>
              <a:t>• Large file and merge conflict detection</a:t>
            </a:r>
          </a:p>
          <a:p>
            <a:pPr>
              <a:spcAft>
                <a:spcPts val="1200"/>
              </a:spcAft>
            </a:pPr>
            <a:r>
              <a:rPr sz="2000">
                <a:solidFill>
                  <a:srgbClr val="404040"/>
                </a:solidFill>
              </a:rPr>
              <a:t>• </a:t>
            </a:r>
            <a:r>
              <a:rPr b="1" sz="2000">
                <a:solidFill>
                  <a:srgbClr val="404040"/>
                </a:solidFill>
              </a:rPr>
              <a:t>Black</a:t>
            </a:r>
            <a:r>
              <a:rPr sz="2000">
                <a:solidFill>
                  <a:srgbClr val="404040"/>
                </a:solidFill>
              </a:rPr>
              <a:t> — Python code formatting</a:t>
            </a:r>
          </a:p>
          <a:p>
            <a:pPr>
              <a:spcAft>
                <a:spcPts val="1200"/>
              </a:spcAft>
            </a:pPr>
            <a:r>
              <a:rPr sz="2000">
                <a:solidFill>
                  <a:srgbClr val="404040"/>
                </a:solidFill>
              </a:rPr>
              <a:t>• </a:t>
            </a:r>
            <a:r>
              <a:rPr b="1" sz="2000">
                <a:solidFill>
                  <a:srgbClr val="404040"/>
                </a:solidFill>
              </a:rPr>
              <a:t>isort</a:t>
            </a:r>
            <a:r>
              <a:rPr sz="2000">
                <a:solidFill>
                  <a:srgbClr val="404040"/>
                </a:solidFill>
              </a:rPr>
              <a:t> — Python import ordering</a:t>
            </a:r>
          </a:p>
          <a:p>
            <a:pPr>
              <a:spcAft>
                <a:spcPts val="1200"/>
              </a:spcAft>
            </a:pPr>
            <a:r>
              <a:rPr sz="2000">
                <a:solidFill>
                  <a:srgbClr val="404040"/>
                </a:solidFill>
              </a:rPr>
              <a:t>• </a:t>
            </a:r>
            <a:r>
              <a:rPr b="1" sz="2000">
                <a:solidFill>
                  <a:srgbClr val="404040"/>
                </a:solidFill>
              </a:rPr>
              <a:t>Ruff</a:t>
            </a:r>
            <a:r>
              <a:rPr sz="2000">
                <a:solidFill>
                  <a:srgbClr val="404040"/>
                </a:solidFill>
              </a:rPr>
              <a:t> — Python linting (replaces flake8 + pylint)</a:t>
            </a:r>
          </a:p>
          <a:p>
            <a:pPr>
              <a:spcAft>
                <a:spcPts val="1200"/>
              </a:spcAft>
            </a:pPr>
            <a:r>
              <a:rPr sz="2000">
                <a:solidFill>
                  <a:srgbClr val="404040"/>
                </a:solidFill>
              </a:rPr>
              <a:t>• </a:t>
            </a:r>
            <a:r>
              <a:rPr b="1" sz="2000">
                <a:solidFill>
                  <a:srgbClr val="404040"/>
                </a:solidFill>
              </a:rPr>
              <a:t>Bandit</a:t>
            </a:r>
            <a:r>
              <a:rPr sz="2000">
                <a:solidFill>
                  <a:srgbClr val="404040"/>
                </a:solidFill>
              </a:rPr>
              <a:t> — security scanning</a:t>
            </a:r>
          </a:p>
          <a:p>
            <a:pPr>
              <a:spcAft>
                <a:spcPts val="1200"/>
              </a:spcAft>
            </a:pPr>
            <a:r>
              <a:rPr sz="2000">
                <a:solidFill>
                  <a:srgbClr val="404040"/>
                </a:solidFill>
              </a:rPr>
              <a:t>• </a:t>
            </a:r>
            <a:r>
              <a:rPr b="1" sz="2000">
                <a:solidFill>
                  <a:srgbClr val="404040"/>
                </a:solidFill>
              </a:rPr>
              <a:t>detect-secrets</a:t>
            </a:r>
            <a:r>
              <a:rPr sz="2000">
                <a:solidFill>
                  <a:srgbClr val="404040"/>
                </a:solidFill>
              </a:rPr>
              <a:t> — hardcoded API keys or passwords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2</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Exercise: Manual Setup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Exercise Part 1 Steps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Exercise Part 1: Manual Setup</a:t>
            </a:r>
          </a:p>
          <a:p>
            <a:pPr>
              <a:spcAft>
                <a:spcPts val="1200"/>
              </a:spcAft>
            </a:pPr>
            <a:r>
              <a:rPr sz="2000">
                <a:solidFill>
                  <a:srgbClr val="404040"/>
                </a:solidFill>
              </a:rPr>
              <a:t>• Step 1: Create GitHub account (if needed)</a:t>
            </a:r>
          </a:p>
          <a:p>
            <a:pPr>
              <a:spcAft>
                <a:spcPts val="1200"/>
              </a:spcAft>
            </a:pPr>
            <a:r>
              <a:rPr sz="2000">
                <a:solidFill>
                  <a:srgbClr val="404040"/>
                </a:solidFill>
              </a:rPr>
              <a:t>• Step 2: Create public repo: </a:t>
            </a:r>
            <a:r>
              <a:rPr sz="2000">
                <a:solidFill>
                  <a:srgbClr val="404040"/>
                </a:solidFill>
                <a:latin typeface="Consolas"/>
              </a:rPr>
              <a:t>sdp-powered-by-ai-agents-name-surname</a:t>
            </a:r>
          </a:p>
          <a:p>
            <a:pPr>
              <a:spcAft>
                <a:spcPts val="1200"/>
              </a:spcAft>
            </a:pPr>
            <a:r>
              <a:rPr sz="2000">
                <a:solidFill>
                  <a:srgbClr val="404040"/>
                </a:solidFill>
              </a:rPr>
              <a:t>• Step 3: Set up pre-commit hooks (Black, isort, Ruff, Bandit, detect-secrets)</a:t>
            </a:r>
          </a:p>
          <a:p>
            <a:pPr>
              <a:spcAft>
                <a:spcPts val="1200"/>
              </a:spcAft>
            </a:pPr>
            <a:r>
              <a:rPr sz="2000">
                <a:solidFill>
                  <a:srgbClr val="404040"/>
                </a:solidFill>
              </a:rPr>
              <a:t>• Step 4: Manually create GitHub Issue for building the Git agent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3</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Exercise: Use Your Agent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Exercise Part 2 Steps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Exercise Part 2: Use Your Agent</a:t>
            </a:r>
          </a:p>
          <a:p>
            <a:pPr>
              <a:spcAft>
                <a:spcPts val="1200"/>
              </a:spcAft>
            </a:pPr>
            <a:r>
              <a:rPr sz="2000">
                <a:solidFill>
                  <a:srgbClr val="404040"/>
                </a:solidFill>
              </a:rPr>
              <a:t>• Step 1: Build the Git agent (</a:t>
            </a:r>
            <a:r>
              <a:rPr sz="2000">
                <a:solidFill>
                  <a:srgbClr val="404040"/>
                </a:solidFill>
                <a:latin typeface="Consolas"/>
              </a:rPr>
              <a:t>.kiro/agents/git-agent.json</a:t>
            </a:r>
            <a:r>
              <a:rPr sz="2000">
                <a:solidFill>
                  <a:srgbClr val="404040"/>
                </a:solidFill>
              </a:rPr>
              <a:t>)</a:t>
            </a:r>
          </a:p>
          <a:p>
            <a:pPr>
              <a:spcAft>
                <a:spcPts val="1200"/>
              </a:spcAft>
            </a:pPr>
            <a:r>
              <a:rPr sz="2000">
                <a:solidFill>
                  <a:srgbClr val="404040"/>
                </a:solidFill>
              </a:rPr>
              <a:t>• Step 2: Use agent to create issues for Modules 2–5</a:t>
            </a:r>
          </a:p>
          <a:p>
            <a:pPr>
              <a:spcAft>
                <a:spcPts val="1200"/>
              </a:spcAft>
            </a:pPr>
            <a:r>
              <a:rPr sz="2000">
                <a:solidFill>
                  <a:srgbClr val="404040"/>
                </a:solidFill>
              </a:rPr>
              <a:t>• Step 3: Use agent to create a feature branch</a:t>
            </a:r>
          </a:p>
          <a:p>
            <a:pPr>
              <a:spcAft>
                <a:spcPts val="1200"/>
              </a:spcAft>
            </a:pPr>
            <a:r>
              <a:rPr sz="2000">
                <a:solidFill>
                  <a:srgbClr val="404040"/>
                </a:solidFill>
              </a:rPr>
              <a:t>• Step 4: Create course README with progress checkboxes</a:t>
            </a:r>
          </a:p>
          <a:p>
            <a:pPr>
              <a:spcAft>
                <a:spcPts val="1200"/>
              </a:spcAft>
            </a:pPr>
            <a:r>
              <a:rPr sz="2000">
                <a:solidFill>
                  <a:srgbClr val="404040"/>
                </a:solidFill>
              </a:rPr>
              <a:t>• Step 5: Commit, push, create PR (all via agent)</a:t>
            </a:r>
          </a:p>
          <a:p>
            <a:pPr>
              <a:spcAft>
                <a:spcPts val="1200"/>
              </a:spcAft>
            </a:pPr>
            <a:r>
              <a:rPr sz="2000">
                <a:solidFill>
                  <a:srgbClr val="404040"/>
                </a:solidFill>
              </a:rPr>
              <a:t>• Step 6: Merge to main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371600"/>
            <a:ext cx="3657600" cy="1828800"/>
          </a:xfrm>
          <a:prstGeom prst="rect">
            <a:avLst/>
          </a:prstGeom>
          <a:noFill/>
        </p:spPr>
        <p:txBody>
          <a:bodyPr wrap="none">
            <a:spAutoFit/>
          </a:bodyPr>
          <a:lstStyle/>
          <a:p>
            <a:pPr algn="ctr">
              <a:defRPr sz="12000" b="1">
                <a:solidFill>
                  <a:srgbClr val="FF7F00"/>
                </a:solidFill>
              </a:defRPr>
            </a:pPr>
            <a:r>
              <a:t>🎯</a:t>
            </a:r>
          </a:p>
        </p:txBody>
      </p:sp>
      <p:sp>
        <p:nvSpPr>
          <p:cNvPr id="3" name="TextBox 2"/>
          <p:cNvSpPr txBox="1"/>
          <p:nvPr/>
        </p:nvSpPr>
        <p:spPr>
          <a:xfrm>
            <a:off x="5029200" y="1828800"/>
            <a:ext cx="6248095" cy="914400"/>
          </a:xfrm>
          <a:prstGeom prst="rect">
            <a:avLst/>
          </a:prstGeom>
          <a:noFill/>
        </p:spPr>
        <p:txBody>
          <a:bodyPr wrap="none">
            <a:spAutoFit/>
          </a:bodyPr>
          <a:lstStyle/>
          <a:p>
            <a:pPr>
              <a:defRPr sz="3600" b="1">
                <a:solidFill>
                  <a:srgbClr val="1F3864"/>
                </a:solidFill>
              </a:defRPr>
            </a:pPr>
            <a:r>
              <a:t>Key Takeaway</a:t>
            </a:r>
          </a:p>
        </p:txBody>
      </p:sp>
      <p:sp>
        <p:nvSpPr>
          <p:cNvPr id="4" name="TextBox 3"/>
          <p:cNvSpPr txBox="1"/>
          <p:nvPr/>
        </p:nvSpPr>
        <p:spPr>
          <a:xfrm>
            <a:off x="5029200" y="2926080"/>
            <a:ext cx="6248095" cy="3200400"/>
          </a:xfrm>
          <a:prstGeom prst="rect">
            <a:avLst/>
          </a:prstGeom>
          <a:noFill/>
        </p:spPr>
        <p:txBody>
          <a:bodyPr wrap="square">
            <a:spAutoFit/>
          </a:bodyPr>
          <a:lstStyle/>
          <a:p>
            <a:r>
              <a:rPr sz="1800">
                <a:solidFill>
                  <a:srgbClr val="404040"/>
                </a:solidFill>
              </a:rPr>
              <a:t>Learn the process first, then automate it with an AI agent.
This is the pattern for the entire course.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