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Module 2. Today we cover software architecture — the decisions you make before writing code that are expensive to change later.</a:t>
            </a:r>
          </a:p>
          <a:p>
            <a:r>
              <a:t>By the end of this module you'll understand DDD, serverless, event-driven architecture, arc42, and C4. And you'll build an agent that generates architecture documents for you.</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pattern as Module 1: learn the process, then automate it with an agent.</a:t>
            </a:r>
          </a:p>
          <a:p>
            <a:r>
              <a:t>Architecture is the most important phase to get right because these decisions are the hardest to reverse. Changing your database from SQL to NoSQL after six months of development is a rewrite. Deciding upfront is a conversation.</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start with the fundamentals. What is architecture, and why should you care about it before writing a single line of code?</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Architecture is not about getting everything right upfront. It's about making the hard-to-reverse decisions deliberately and documenting them.</a:t>
            </a:r>
          </a:p>
          <a:p>
            <a:r>
              <a:t>Easy-to-change decisions — like which HTTP library to use or how to format a date — those can wait for implementation. But the database engine, the communication pattern between services, the deployment model — those are architecture decisions.</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Without architecture, Developer A builds a REST API with PostgreSQL, Developer B builds GraphQL with MongoDB, Developer C builds gRPC with Redis. Three incompatible services, no shared patterns, integration nightmare.</a:t>
            </a:r>
          </a:p>
          <a:p>
            <a:r>
              <a:t>With architecture, you decide upfront: all services use REST, DynamoDB, EventBridge. Consistent patterns, shared tooling, predictable integration.</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what happens in real teams when there's no architecture. Everyone makes their own technology choices. Six months later, you have three services that can't talk to each other, three different deployment pipelines, and three different monitoring setups.</a:t>
            </a:r>
          </a:p>
          <a:p>
            <a:r>
              <a:t>Architecture prevents this by making the key decisions once, documenting them, and ensuring everyone follows them.</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talk about how to decompose a system. DDD gives us the tools to think about this clearly.</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DDD is about organizing your software around the business problem, not around technical layers. Instead of thinking "I need a database layer, a service layer, and an API layer", you think "I have an AUTH domain, a WORKOUT domain, and a PROGRESS domain."</a:t>
            </a:r>
          </a:p>
          <a:p>
            <a:r>
              <a:t>Each domain has its own language. In AUTH, a User is credentials and tokens. In WORKOUT, a User is sessions and exercises. These are different models, and that's fine — that's what bounded contexts are for.</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Subscription Platform decomposed into four bounded contexts. CATALOG handles products and pricing. IDENTITY handles merchant auth and customer management. ORDER handles checkouts, payments, and discounts. BILLING handles subscription lifecycle, invoicing, and usage tracking.</a:t>
            </a:r>
          </a:p>
          <a:p>
            <a:r>
              <a:t>Each context has its own model, its own Lambda functions, and its own section of the DynamoDB table. They communicate through REST calls between modules.</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talk about how these bounded contexts become real services, and how they communicate.</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Microservices decompose a system into small services. Serverless takes this further — you don't manage servers at all. AWS Lambda runs your code on demand and charges per execution.</a:t>
            </a:r>
          </a:p>
          <a:p>
            <a:r>
              <a:t>The killer feature is scales to zero. When nobody is using your app, you pay nothing. When traffic spikes, Lambda scales automatically. This is why serverless is perfect for MVPs, student projects, and variable workloads.</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economic argument for serverless. A traditional server costs money 24/7 whether anyone is using it or not. With Lambda, you pay only for the milliseconds your code actually runs.</a:t>
            </a:r>
          </a:p>
          <a:p>
            <a:r>
              <a:t>For a student project on AWS free tier, this means you can deploy a real application and pay essentially nothing. For a startup, it means you don't burn money on infrastructure before you have customers.</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stack we'll use for the Subscription Platform. Every component scales to zero and is fully managed. No servers, no patching, no capacity planning.</a:t>
            </a:r>
          </a:p>
          <a:p>
            <a:r>
              <a:t>SAM — Serverless Application Model — is how we define all of this as code. One YAML file describes your Lambda functions, API Gateway, DynamoDB tables, and all the wiring between them.</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traditional architecture, services call each other directly. If the downstream service is slow or down, the caller fails too. In EDA, services publish events and move on. Consumers process events independently.</a:t>
            </a:r>
          </a:p>
          <a:p>
            <a:r>
              <a:t>This is a fundamental shift. Instead of "call the billing service to create a subscription", you publish a "CheckoutCompleted" event. The subscription creator, the invoice generator, and the email notifier all react independently. If one fails, the others still succeed.</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 at the difference. In the synchronous model, the user waits for the entire chain. If Lambda C takes 5 seconds, the user waits 5 seconds.</a:t>
            </a:r>
          </a:p>
          <a:p>
            <a:r>
              <a:t>In the event-driven model, Lambda A completes the checkout and publishes an event. The user gets a response immediately. The subscription creation, invoice generation, and email notification happen in the background. If the email sender fails, the subscription is still created.</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principles are non-negotiable in production EDA systems. Idempotency means if an event is delivered twice — which happens in distributed systems — your handler produces the same result. No duplicate records, no double-counting.</a:t>
            </a:r>
          </a:p>
          <a:p>
            <a:r>
              <a:t>Dead Letter Queues catch events that fail after all retries. Instead of losing the event, it goes to a DLQ where you can inspect and replay it.</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that we understand the principles, let's talk about how to document them. arc42 gives us the structure, C4 gives us the diagrams.</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arc42 is a template, not a methodology. It tells you what to document, not how to design. The 12 chapters cover everything from business goals to technical risks.</a:t>
            </a:r>
          </a:p>
          <a:p>
            <a:r>
              <a:t>You don't need to fill every chapter equally. For an MVP, chapters 3, 5, and 9 are the most important — system boundary, building blocks, and decisions. Chapters 10-12 can be brief.</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C4 is like Google Maps for architecture. Level 1 is the country view — who uses the system and what does it connect to. Level 2 is the city view — what are the major technical building blocks. Level 3 is the street view — what's inside each building block.</a:t>
            </a:r>
          </a:p>
          <a:p>
            <a:r>
              <a:t>Level 4 is rarely needed. If your code is well-structured, the code itself is the documentation at that level.</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simplest diagram. One box for your system, surrounded by the people who use it and the external systems it talks to.</a:t>
            </a:r>
          </a:p>
          <a:p>
            <a:r>
              <a:t>For the Subscription Platform: a merchant interacts with the platform to create products and manage subscriptions, which authenticates via AWS Cognito. That's it at Level 1. Simple, clear, fits on a napkin.</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we zoom in. The Subscription Platform contains a React SPA, an API Gateway, Lambda functions, and a DynamoDB table. Each of these is a container — a separately deployable unit.</a:t>
            </a:r>
          </a:p>
          <a:p>
            <a:r>
              <a:t>This is the diagram that developers look at most. It shows the major technical building blocks and how they connect.</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everything-as-code principle from Module 1 applied to diagrams. You write PlantUML in a text file, commit it, and the pre-commit hook generates the SVG automatically.</a:t>
            </a:r>
          </a:p>
          <a:p>
            <a:r>
              <a:t>No more Visio files that nobody can edit. No more screenshots that go stale. The diagram source is code, versioned with everything else.</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what a C4 diagram looks like in PlantUML. Person, System, System_Ext, and Rel are all from the C4 library. You include the library, define your elements, define relationships, and PlantUML renders it.</a:t>
            </a:r>
          </a:p>
          <a:p>
            <a:r>
              <a:t>The @startuml directive name must match the filename — c4-context.puml starts with @startuml c4-context. This is required for the pre-commit hook to work correctly.</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ADRs are one of the most valuable things you can write. They capture the reasoning behind decisions. Code tells you what was built. ADRs tell you why it was built that way.</a:t>
            </a:r>
          </a:p>
          <a:p>
            <a:r>
              <a:t>Without ADRs, someone joins the team six months later and asks "why did we use DynamoDB instead of PostgreSQL?" Nobody remembers. With an ADR, the answer is documented: scales to zero, no connection pooling, fits serverless model, on-demand billing.</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Short, clear, and to the point. Context explains the problem. Decision states the choice. Rationale explains why. Consequences are honest about tradeoffs.</a:t>
            </a:r>
          </a:p>
          <a:p>
            <a:r>
              <a:t>Notice the consequences section isn't all positive. Good ADRs acknowledge tradeoffs. DynamoDB means you need to design access patterns upfront and queries are less flexible. That's the price you pay for the benefits.</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to put this into practice. First you'll choose a coding kata, then build an architecture agent and use it to design the architecture for your kata.</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Coding Dojo is a community-driven collection of programming exercises. Each kata has a clear problem statement and constraints — perfect for practicing software development processes.</a:t>
            </a:r>
          </a:p>
          <a:p>
            <a:r>
              <a:t>You'll choose one kata now and use it through the rest of the course. In this module you architect it. In Module 3 you derive user stories. In Module 5 you implement it with TDD. Pick something that interests you and has enough moving parts to make the architecture meaningful.</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the manual work. Read the arc42 and C4 references. Then set up the PlantUML pre-commit hook so diagrams are generated automatically.</a:t>
            </a:r>
          </a:p>
          <a:p>
            <a:r>
              <a:t>Write your first diagram and your first ADR for your chosen kata. This gives you the hands-on understanding you need before building the agent.</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agent should generate one chapter at a time and wait for your approval. Architecture is a conversation, not a one-shot generation. You review each chapter, give feedback, and the agent refines.</a:t>
            </a:r>
          </a:p>
          <a:p>
            <a:r>
              <a:t>The starter config gives you the workflow. You need to add the C4 templates, ADR format, and architectural principles. That's the learning exercise.</a:t>
            </a:r>
          </a:p>
          <a:p>
            <a:r>
              <a:t>Remember: add the instructor as reviewer on your PR before merging.</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Architecture is not about perfection. It's about making the hard decisions deliberately, documenting them so the team is aligned, and versioning everything so you can trace how the system evolved.</a:t>
            </a:r>
          </a:p>
          <a:p>
            <a:r>
              <a:t>Next module, we'll take this architecture and derive user stories from it — breaking down the system into implementable pieces using Domain-Driven Design and Pareto prioritization.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3864"/>
        </a:solidFill>
        <a:effectLst/>
      </p:bgPr>
    </p:bg>
    <p:spTree>
      <p:nvGrpSpPr>
        <p:cNvPr id="1" name=""/>
        <p:cNvGrpSpPr/>
        <p:nvPr/>
      </p:nvGrpSpPr>
      <p:grpSpPr/>
      <p:sp>
        <p:nvSpPr>
          <p:cNvPr id="2" name="TextBox 1"/>
          <p:cNvSpPr txBox="1"/>
          <p:nvPr/>
        </p:nvSpPr>
        <p:spPr>
          <a:xfrm>
            <a:off x="914400" y="2286000"/>
            <a:ext cx="10362895" cy="1371600"/>
          </a:xfrm>
          <a:prstGeom prst="rect">
            <a:avLst/>
          </a:prstGeom>
          <a:noFill/>
        </p:spPr>
        <p:txBody>
          <a:bodyPr wrap="none">
            <a:spAutoFit/>
          </a:bodyPr>
          <a:lstStyle/>
          <a:p>
            <a:pPr algn="ctr">
              <a:defRPr sz="5400" b="1">
                <a:solidFill>
                  <a:srgbClr val="FFFFFF"/>
                </a:solidFill>
              </a:defRPr>
            </a:pPr>
            <a:r>
              <a:t>Module 2: Software Architecture</a:t>
            </a:r>
          </a:p>
        </p:txBody>
      </p:sp>
      <p:sp>
        <p:nvSpPr>
          <p:cNvPr id="3" name="TextBox 2"/>
          <p:cNvSpPr txBox="1"/>
          <p:nvPr/>
        </p:nvSpPr>
        <p:spPr>
          <a:xfrm>
            <a:off x="914400" y="4114800"/>
            <a:ext cx="10362895" cy="914400"/>
          </a:xfrm>
          <a:prstGeom prst="rect">
            <a:avLst/>
          </a:prstGeom>
          <a:noFill/>
        </p:spPr>
        <p:txBody>
          <a:bodyPr wrap="none">
            <a:spAutoFit/>
          </a:bodyPr>
          <a:lstStyle/>
          <a:p>
            <a:pPr algn="ctr">
              <a:defRPr sz="2400">
                <a:solidFill>
                  <a:srgbClr val="4F81BD"/>
                </a:solidFill>
              </a:defRPr>
            </a:pPr>
            <a:r>
              <a:t>Software Development Processes Powered by AI Agents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tIns="182880"/>
          <a:lstStyle/>
          <a:p>
            <a:pPr algn="l">
              <a:defRPr sz="3600" b="1">
                <a:solidFill>
                  <a:srgbClr val="FFFFFF"/>
                </a:solidFill>
              </a:defRPr>
            </a:pPr>
            <a:r>
              <a:t>What You'll Learn</a:t>
            </a:r>
          </a:p>
        </p:txBody>
      </p:sp>
      <p:sp>
        <p:nvSpPr>
          <p:cNvPr id="3" name="TextBox 2"/>
          <p:cNvSpPr txBox="1"/>
          <p:nvPr/>
        </p:nvSpPr>
        <p:spPr>
          <a:xfrm>
            <a:off x="914400" y="1828800"/>
            <a:ext cx="10362895" cy="4572000"/>
          </a:xfrm>
          <a:prstGeom prst="rect">
            <a:avLst/>
          </a:prstGeom>
          <a:noFill/>
        </p:spPr>
        <p:txBody>
          <a:bodyPr wrap="square">
            <a:spAutoFit/>
          </a:bodyPr>
          <a:lstStyle/>
          <a:p>
            <a:pPr>
              <a:spcAft>
                <a:spcPts val="1200"/>
              </a:spcAft>
            </a:pPr>
            <a:r>
              <a:rPr sz="2000">
                <a:solidFill>
                  <a:srgbClr val="404040"/>
                </a:solidFill>
              </a:rPr>
              <a:t>• Understand why architecture decisions must happen before coding</a:t>
            </a:r>
          </a:p>
          <a:p>
            <a:pPr>
              <a:spcAft>
                <a:spcPts val="1200"/>
              </a:spcAft>
            </a:pPr>
            <a:r>
              <a:rPr sz="2000">
                <a:solidFill>
                  <a:srgbClr val="404040"/>
                </a:solidFill>
              </a:rPr>
              <a:t>• Know the key principles: DDD, microservices, serverless, EDA</a:t>
            </a:r>
          </a:p>
          <a:p>
            <a:pPr>
              <a:spcAft>
                <a:spcPts val="1200"/>
              </a:spcAft>
            </a:pPr>
            <a:r>
              <a:rPr sz="2000">
                <a:solidFill>
                  <a:srgbClr val="404040"/>
                </a:solidFill>
              </a:rPr>
              <a:t>• Use the arc42 template to document software architecture</a:t>
            </a:r>
          </a:p>
          <a:p>
            <a:pPr>
              <a:spcAft>
                <a:spcPts val="1200"/>
              </a:spcAft>
            </a:pPr>
            <a:r>
              <a:rPr sz="2000">
                <a:solidFill>
                  <a:srgbClr val="404040"/>
                </a:solidFill>
              </a:rPr>
              <a:t>• Use the C4 model to create diagrams at multiple zoom levels</a:t>
            </a:r>
          </a:p>
          <a:p>
            <a:pPr>
              <a:spcAft>
                <a:spcPts val="1200"/>
              </a:spcAft>
            </a:pPr>
            <a:r>
              <a:rPr sz="2000">
                <a:solidFill>
                  <a:srgbClr val="404040"/>
                </a:solidFill>
              </a:rPr>
              <a:t>• Write PlantUML diagrams as code with pre-commit auto-generation</a:t>
            </a:r>
          </a:p>
          <a:p>
            <a:pPr>
              <a:spcAft>
                <a:spcPts val="1200"/>
              </a:spcAft>
            </a:pPr>
            <a:r>
              <a:rPr sz="2000">
                <a:solidFill>
                  <a:srgbClr val="404040"/>
                </a:solidFill>
              </a:rPr>
              <a:t>• Build a Kiro CLI agent that generates architecture documents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7F00"/>
        </a:solidFill>
        <a:effectLst/>
      </p:bgPr>
    </p:bg>
    <p:spTree>
      <p:nvGrpSpPr>
        <p:cNvPr id="1" name=""/>
        <p:cNvGrpSpPr/>
        <p:nvPr/>
      </p:nvGrpSpPr>
      <p:grpSpPr/>
      <p:sp>
        <p:nvSpPr>
          <p:cNvPr id="2" name="TextBox 1"/>
          <p:cNvSpPr txBox="1"/>
          <p:nvPr/>
        </p:nvSpPr>
        <p:spPr>
          <a:xfrm>
            <a:off x="914400" y="2286000"/>
            <a:ext cx="10362895" cy="1828800"/>
          </a:xfrm>
          <a:prstGeom prst="rect">
            <a:avLst/>
          </a:prstGeom>
          <a:noFill/>
        </p:spPr>
        <p:txBody>
          <a:bodyPr wrap="none">
            <a:spAutoFit/>
          </a:bodyPr>
          <a:lstStyle/>
          <a:p>
            <a:pPr algn="ctr">
              <a:defRPr sz="4800" b="1">
                <a:solidFill>
                  <a:srgbClr val="FFFFFF"/>
                </a:solidFill>
              </a:defRPr>
            </a:pPr>
            <a:r>
              <a:t>Part 1</a:t>
            </a:r>
          </a:p>
        </p:txBody>
      </p:sp>
      <p:sp>
        <p:nvSpPr>
          <p:cNvPr id="3" name="TextBox 2"/>
          <p:cNvSpPr txBox="1"/>
          <p:nvPr/>
        </p:nvSpPr>
        <p:spPr>
          <a:xfrm>
            <a:off x="914400" y="4572000"/>
            <a:ext cx="10362895" cy="914400"/>
          </a:xfrm>
          <a:prstGeom prst="rect">
            <a:avLst/>
          </a:prstGeom>
          <a:noFill/>
        </p:spPr>
        <p:txBody>
          <a:bodyPr wrap="none">
            <a:spAutoFit/>
          </a:bodyPr>
          <a:lstStyle/>
          <a:p>
            <a:pPr algn="ctr">
              <a:defRPr sz="2800">
                <a:solidFill>
                  <a:srgbClr val="1F3864"/>
                </a:solidFill>
              </a:defRPr>
            </a:pPr>
            <a:r>
              <a:t>What Is Software Architecture?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tIns="182880"/>
          <a:lstStyle/>
          <a:p>
            <a:pPr algn="l">
              <a:defRPr sz="3600" b="1">
                <a:solidFill>
                  <a:srgbClr val="FFFFFF"/>
                </a:solidFill>
              </a:defRPr>
            </a:pPr>
            <a:r>
              <a:t>What Is Software Architecture?</a:t>
            </a:r>
          </a:p>
        </p:txBody>
      </p:sp>
      <p:sp>
        <p:nvSpPr>
          <p:cNvPr id="3" name="TextBox 2"/>
          <p:cNvSpPr txBox="1"/>
          <p:nvPr/>
        </p:nvSpPr>
        <p:spPr>
          <a:xfrm>
            <a:off x="914400" y="1828800"/>
            <a:ext cx="10362895" cy="4572000"/>
          </a:xfrm>
          <a:prstGeom prst="rect">
            <a:avLst/>
          </a:prstGeom>
          <a:noFill/>
        </p:spPr>
        <p:txBody>
          <a:bodyPr wrap="square">
            <a:spAutoFit/>
          </a:bodyPr>
          <a:lstStyle/>
          <a:p>
            <a:pPr>
              <a:spcAft>
                <a:spcPts val="1200"/>
              </a:spcAft>
            </a:pPr>
            <a:r>
              <a:rPr sz="2000">
                <a:solidFill>
                  <a:srgbClr val="404040"/>
                </a:solidFill>
              </a:rPr>
              <a:t>• The set of decisions that are </a:t>
            </a:r>
            <a:r>
              <a:rPr b="1" sz="2000">
                <a:solidFill>
                  <a:srgbClr val="404040"/>
                </a:solidFill>
              </a:rPr>
              <a:t>expensive to change later</a:t>
            </a:r>
          </a:p>
          <a:p>
            <a:pPr>
              <a:spcAft>
                <a:spcPts val="1200"/>
              </a:spcAft>
            </a:pPr>
            <a:r>
              <a:rPr sz="2000">
                <a:solidFill>
                  <a:srgbClr val="404040"/>
                </a:solidFill>
              </a:rPr>
              <a:t>• How the system is decomposed into components</a:t>
            </a:r>
          </a:p>
          <a:p>
            <a:pPr>
              <a:spcAft>
                <a:spcPts val="1200"/>
              </a:spcAft>
            </a:pPr>
            <a:r>
              <a:rPr sz="2000">
                <a:solidFill>
                  <a:srgbClr val="404040"/>
                </a:solidFill>
              </a:rPr>
              <a:t>• How those components communicate</a:t>
            </a:r>
          </a:p>
          <a:p>
            <a:pPr>
              <a:spcAft>
                <a:spcPts val="1200"/>
              </a:spcAft>
            </a:pPr>
            <a:r>
              <a:rPr sz="2000">
                <a:solidFill>
                  <a:srgbClr val="404040"/>
                </a:solidFill>
              </a:rPr>
              <a:t>• Where data is stored and how it flows</a:t>
            </a:r>
          </a:p>
          <a:p>
            <a:pPr>
              <a:spcAft>
                <a:spcPts val="1200"/>
              </a:spcAft>
            </a:pPr>
            <a:r>
              <a:rPr sz="2000">
                <a:solidFill>
                  <a:srgbClr val="404040"/>
                </a:solidFill>
              </a:rPr>
              <a:t>• What technologies are used and </a:t>
            </a:r>
            <a:r>
              <a:rPr b="1" sz="2000">
                <a:solidFill>
                  <a:srgbClr val="404040"/>
                </a:solidFill>
              </a:rPr>
              <a:t>why</a:t>
            </a:r>
          </a:p>
          <a:p>
            <a:pPr>
              <a:spcAft>
                <a:spcPts val="1200"/>
              </a:spcAft>
            </a:pPr>
            <a:r>
              <a:rPr sz="2000">
                <a:solidFill>
                  <a:srgbClr val="404040"/>
                </a:solidFill>
              </a:rPr>
              <a:t>• What quality attributes are prioritized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tIns="182880"/>
          <a:lstStyle/>
          <a:p>
            <a:pPr algn="l">
              <a:defRPr sz="3600" b="1">
                <a:solidFill>
                  <a:srgbClr val="FFFFFF"/>
                </a:solidFill>
              </a:defRPr>
            </a:pPr>
            <a:r>
              <a:t>Why Architecture Matters</a:t>
            </a:r>
          </a:p>
        </p:txBody>
      </p:sp>
      <p:sp>
        <p:nvSpPr>
          <p:cNvPr id="3" name="TextBox 2"/>
          <p:cNvSpPr txBox="1"/>
          <p:nvPr/>
        </p:nvSpPr>
        <p:spPr>
          <a:xfrm>
            <a:off x="914400" y="1828800"/>
            <a:ext cx="10362895" cy="4572000"/>
          </a:xfrm>
          <a:prstGeom prst="rect">
            <a:avLst/>
          </a:prstGeom>
          <a:noFill/>
        </p:spPr>
        <p:txBody>
          <a:bodyPr wrap="square">
            <a:spAutoFit/>
          </a:bodyPr>
          <a:lstStyle/>
          <a:p>
            <a:pPr>
              <a:spcAft>
                <a:spcPts val="1200"/>
              </a:spcAft>
            </a:pPr>
            <a:r>
              <a:rPr sz="2000">
                <a:solidFill>
                  <a:srgbClr val="404040"/>
                </a:solidFill>
              </a:rPr>
              <a:t>• </a:t>
            </a:r>
            <a:r>
              <a:rPr b="1" sz="2000">
                <a:solidFill>
                  <a:srgbClr val="404040"/>
                </a:solidFill>
              </a:rPr>
              <a:t>Shared vocabulary</a:t>
            </a:r>
            <a:r>
              <a:rPr sz="2000">
                <a:solidFill>
                  <a:srgbClr val="404040"/>
                </a:solidFill>
              </a:rPr>
              <a:t> — team speaks the same language about components</a:t>
            </a:r>
          </a:p>
          <a:p>
            <a:pPr>
              <a:spcAft>
                <a:spcPts val="1200"/>
              </a:spcAft>
            </a:pPr>
            <a:r>
              <a:rPr sz="2000">
                <a:solidFill>
                  <a:srgbClr val="404040"/>
                </a:solidFill>
              </a:rPr>
              <a:t>• </a:t>
            </a:r>
            <a:r>
              <a:rPr b="1" sz="2000">
                <a:solidFill>
                  <a:srgbClr val="404040"/>
                </a:solidFill>
              </a:rPr>
              <a:t>Constraint alignment</a:t>
            </a:r>
            <a:r>
              <a:rPr sz="2000">
                <a:solidFill>
                  <a:srgbClr val="404040"/>
                </a:solidFill>
              </a:rPr>
              <a:t> — everyone knows what technologies to use and why</a:t>
            </a:r>
          </a:p>
          <a:p>
            <a:pPr>
              <a:spcAft>
                <a:spcPts val="1200"/>
              </a:spcAft>
            </a:pPr>
            <a:r>
              <a:rPr sz="2000">
                <a:solidFill>
                  <a:srgbClr val="404040"/>
                </a:solidFill>
              </a:rPr>
              <a:t>• </a:t>
            </a:r>
            <a:r>
              <a:rPr b="1" sz="2000">
                <a:solidFill>
                  <a:srgbClr val="404040"/>
                </a:solidFill>
              </a:rPr>
              <a:t>Quality assurance</a:t>
            </a:r>
            <a:r>
              <a:rPr sz="2000">
                <a:solidFill>
                  <a:srgbClr val="404040"/>
                </a:solidFill>
              </a:rPr>
              <a:t> — latency, cost, scale addressed early</a:t>
            </a:r>
          </a:p>
          <a:p>
            <a:pPr>
              <a:spcAft>
                <a:spcPts val="1200"/>
              </a:spcAft>
            </a:pPr>
            <a:r>
              <a:rPr sz="2000">
                <a:solidFill>
                  <a:srgbClr val="404040"/>
                </a:solidFill>
              </a:rPr>
              <a:t>• </a:t>
            </a:r>
            <a:r>
              <a:rPr b="1" sz="2000">
                <a:solidFill>
                  <a:srgbClr val="404040"/>
                </a:solidFill>
              </a:rPr>
              <a:t>Onboarding speed</a:t>
            </a:r>
            <a:r>
              <a:rPr sz="2000">
                <a:solidFill>
                  <a:srgbClr val="404040"/>
                </a:solidFill>
              </a:rPr>
              <a:t> — new developers understand the system from docs</a:t>
            </a:r>
          </a:p>
          <a:p>
            <a:pPr>
              <a:spcAft>
                <a:spcPts val="1200"/>
              </a:spcAft>
            </a:pPr>
            <a:r>
              <a:rPr sz="2000">
                <a:solidFill>
                  <a:srgbClr val="404040"/>
                </a:solidFill>
              </a:rPr>
              <a:t>• </a:t>
            </a:r>
            <a:r>
              <a:rPr b="1" sz="2000">
                <a:solidFill>
                  <a:srgbClr val="404040"/>
                </a:solidFill>
              </a:rPr>
              <a:t>Change management</a:t>
            </a:r>
            <a:r>
              <a:rPr sz="2000">
                <a:solidFill>
                  <a:srgbClr val="404040"/>
                </a:solidFill>
              </a:rPr>
              <a:t> — impact of changes is predictable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914400" y="1371600"/>
            <a:ext cx="3657600" cy="1828800"/>
          </a:xfrm>
          <a:prstGeom prst="rect">
            <a:avLst/>
          </a:prstGeom>
          <a:noFill/>
        </p:spPr>
        <p:txBody>
          <a:bodyPr wrap="none">
            <a:spAutoFit/>
          </a:bodyPr>
          <a:lstStyle/>
          <a:p>
            <a:pPr algn="ctr">
              <a:defRPr sz="12000" b="1">
                <a:solidFill>
                  <a:srgbClr val="FF7F00"/>
                </a:solidFill>
              </a:defRPr>
            </a:pPr>
            <a:r>
              <a:t>⚠️</a:t>
            </a:r>
          </a:p>
        </p:txBody>
      </p:sp>
      <p:sp>
        <p:nvSpPr>
          <p:cNvPr id="3" name="TextBox 2"/>
          <p:cNvSpPr txBox="1"/>
          <p:nvPr/>
        </p:nvSpPr>
        <p:spPr>
          <a:xfrm>
            <a:off x="5029200" y="1828800"/>
            <a:ext cx="6248095" cy="914400"/>
          </a:xfrm>
          <a:prstGeom prst="rect">
            <a:avLst/>
          </a:prstGeom>
          <a:noFill/>
        </p:spPr>
        <p:txBody>
          <a:bodyPr wrap="none">
            <a:spAutoFit/>
          </a:bodyPr>
          <a:lstStyle/>
          <a:p>
            <a:pPr>
              <a:defRPr sz="3600" b="1">
                <a:solidFill>
                  <a:srgbClr val="1F3864"/>
                </a:solidFill>
              </a:defRPr>
            </a:pPr>
            <a:r>
              <a:t>Without Architecture</a:t>
            </a:r>
          </a:p>
        </p:txBody>
      </p:sp>
      <p:sp>
        <p:nvSpPr>
          <p:cNvPr id="4" name="TextBox 3"/>
          <p:cNvSpPr txBox="1"/>
          <p:nvPr/>
        </p:nvSpPr>
        <p:spPr>
          <a:xfrm>
            <a:off x="5029200" y="2926080"/>
            <a:ext cx="6248095" cy="3200400"/>
          </a:xfrm>
          <a:prstGeom prst="rect">
            <a:avLst/>
          </a:prstGeom>
          <a:noFill/>
        </p:spPr>
        <p:txBody>
          <a:bodyPr wrap="square">
            <a:spAutoFit/>
          </a:bodyPr>
          <a:lstStyle/>
          <a:p>
            <a:r>
              <a:rPr sz="1800">
                <a:solidFill>
                  <a:srgbClr val="404040"/>
                </a:solidFill>
              </a:rPr>
              <a:t>Developer A: REST + PostgreSQL
Developer B: GraphQL + MongoDB
Developer C: gRPC + Redis
Three incompatible services. Integration nightmare.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7F00"/>
        </a:solidFill>
        <a:effectLst/>
      </p:bgPr>
    </p:bg>
    <p:spTree>
      <p:nvGrpSpPr>
        <p:cNvPr id="1" name=""/>
        <p:cNvGrpSpPr/>
        <p:nvPr/>
      </p:nvGrpSpPr>
      <p:grpSpPr/>
      <p:sp>
        <p:nvSpPr>
          <p:cNvPr id="2" name="TextBox 1"/>
          <p:cNvSpPr txBox="1"/>
          <p:nvPr/>
        </p:nvSpPr>
        <p:spPr>
          <a:xfrm>
            <a:off x="914400" y="2286000"/>
            <a:ext cx="10362895" cy="1828800"/>
          </a:xfrm>
          <a:prstGeom prst="rect">
            <a:avLst/>
          </a:prstGeom>
          <a:noFill/>
        </p:spPr>
        <p:txBody>
          <a:bodyPr wrap="none">
            <a:spAutoFit/>
          </a:bodyPr>
          <a:lstStyle/>
          <a:p>
            <a:pPr algn="ctr">
              <a:defRPr sz="4800" b="1">
                <a:solidFill>
                  <a:srgbClr val="FFFFFF"/>
                </a:solidFill>
              </a:defRPr>
            </a:pPr>
            <a:r>
              <a:t>Part 2</a:t>
            </a:r>
          </a:p>
        </p:txBody>
      </p:sp>
      <p:sp>
        <p:nvSpPr>
          <p:cNvPr id="3" name="TextBox 2"/>
          <p:cNvSpPr txBox="1"/>
          <p:nvPr/>
        </p:nvSpPr>
        <p:spPr>
          <a:xfrm>
            <a:off x="914400" y="4572000"/>
            <a:ext cx="10362895" cy="914400"/>
          </a:xfrm>
          <a:prstGeom prst="rect">
            <a:avLst/>
          </a:prstGeom>
          <a:noFill/>
        </p:spPr>
        <p:txBody>
          <a:bodyPr wrap="none">
            <a:spAutoFit/>
          </a:bodyPr>
          <a:lstStyle/>
          <a:p>
            <a:pPr algn="ctr">
              <a:defRPr sz="2800">
                <a:solidFill>
                  <a:srgbClr val="1F3864"/>
                </a:solidFill>
              </a:defRPr>
            </a:pPr>
            <a:r>
              <a:t>Domain-Driven Design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tIns="182880"/>
          <a:lstStyle/>
          <a:p>
            <a:pPr algn="l">
              <a:defRPr sz="3600" b="1">
                <a:solidFill>
                  <a:srgbClr val="FFFFFF"/>
                </a:solidFill>
              </a:defRPr>
            </a:pPr>
            <a:r>
              <a:t>Domain-Driven Design (DDD)</a:t>
            </a:r>
          </a:p>
        </p:txBody>
      </p:sp>
      <p:sp>
        <p:nvSpPr>
          <p:cNvPr id="3" name="TextBox 2"/>
          <p:cNvSpPr txBox="1"/>
          <p:nvPr/>
        </p:nvSpPr>
        <p:spPr>
          <a:xfrm>
            <a:off x="914400" y="1828800"/>
            <a:ext cx="10362895" cy="4572000"/>
          </a:xfrm>
          <a:prstGeom prst="rect">
            <a:avLst/>
          </a:prstGeom>
          <a:noFill/>
        </p:spPr>
        <p:txBody>
          <a:bodyPr wrap="square">
            <a:spAutoFit/>
          </a:bodyPr>
          <a:lstStyle/>
          <a:p>
            <a:pPr>
              <a:spcAft>
                <a:spcPts val="1200"/>
              </a:spcAft>
            </a:pPr>
            <a:r>
              <a:rPr sz="2000">
                <a:solidFill>
                  <a:srgbClr val="404040"/>
                </a:solidFill>
              </a:rPr>
              <a:t>• Focus on the </a:t>
            </a:r>
            <a:r>
              <a:rPr b="1" sz="2000">
                <a:solidFill>
                  <a:srgbClr val="404040"/>
                </a:solidFill>
              </a:rPr>
              <a:t>business domain</a:t>
            </a:r>
            <a:r>
              <a:rPr sz="2000">
                <a:solidFill>
                  <a:srgbClr val="404040"/>
                </a:solidFill>
              </a:rPr>
              <a:t>, not technical concerns</a:t>
            </a:r>
          </a:p>
          <a:p>
            <a:pPr>
              <a:spcAft>
                <a:spcPts val="1200"/>
              </a:spcAft>
            </a:pPr>
            <a:r>
              <a:rPr sz="2000">
                <a:solidFill>
                  <a:srgbClr val="404040"/>
                </a:solidFill>
              </a:rPr>
              <a:t>• </a:t>
            </a:r>
            <a:r>
              <a:rPr b="1" sz="2000">
                <a:solidFill>
                  <a:srgbClr val="404040"/>
                </a:solidFill>
              </a:rPr>
              <a:t>Bounded Context</a:t>
            </a:r>
            <a:r>
              <a:rPr sz="2000">
                <a:solidFill>
                  <a:srgbClr val="404040"/>
                </a:solidFill>
              </a:rPr>
              <a:t> — a boundary with its own model and language</a:t>
            </a:r>
          </a:p>
          <a:p>
            <a:pPr>
              <a:spcAft>
                <a:spcPts val="1200"/>
              </a:spcAft>
            </a:pPr>
            <a:r>
              <a:rPr sz="2000">
                <a:solidFill>
                  <a:srgbClr val="404040"/>
                </a:solidFill>
              </a:rPr>
              <a:t>• </a:t>
            </a:r>
            <a:r>
              <a:rPr b="1" sz="2000">
                <a:solidFill>
                  <a:srgbClr val="404040"/>
                </a:solidFill>
              </a:rPr>
              <a:t>Entity</a:t>
            </a:r>
            <a:r>
              <a:rPr sz="2000">
                <a:solidFill>
                  <a:srgbClr val="404040"/>
                </a:solidFill>
              </a:rPr>
              <a:t> — object with identity that persists (User, Session)</a:t>
            </a:r>
          </a:p>
          <a:p>
            <a:pPr>
              <a:spcAft>
                <a:spcPts val="1200"/>
              </a:spcAft>
            </a:pPr>
            <a:r>
              <a:rPr sz="2000">
                <a:solidFill>
                  <a:srgbClr val="404040"/>
                </a:solidFill>
              </a:rPr>
              <a:t>• </a:t>
            </a:r>
            <a:r>
              <a:rPr b="1" sz="2000">
                <a:solidFill>
                  <a:srgbClr val="404040"/>
                </a:solidFill>
              </a:rPr>
              <a:t>Value Object</a:t>
            </a:r>
            <a:r>
              <a:rPr sz="2000">
                <a:solidFill>
                  <a:srgbClr val="404040"/>
                </a:solidFill>
              </a:rPr>
              <a:t> — defined by attributes, no identity (Weight, Date)</a:t>
            </a:r>
          </a:p>
          <a:p>
            <a:pPr>
              <a:spcAft>
                <a:spcPts val="1200"/>
              </a:spcAft>
            </a:pPr>
            <a:r>
              <a:rPr sz="2000">
                <a:solidFill>
                  <a:srgbClr val="404040"/>
                </a:solidFill>
              </a:rPr>
              <a:t>• </a:t>
            </a:r>
            <a:r>
              <a:rPr b="1" sz="2000">
                <a:solidFill>
                  <a:srgbClr val="404040"/>
                </a:solidFill>
              </a:rPr>
              <a:t>Aggregate</a:t>
            </a:r>
            <a:r>
              <a:rPr sz="2000">
                <a:solidFill>
                  <a:srgbClr val="404040"/>
                </a:solidFill>
              </a:rPr>
              <a:t> — cluster of entities treated as a unit (Session + Exercises)</a:t>
            </a:r>
          </a:p>
          <a:p>
            <a:pPr>
              <a:spcAft>
                <a:spcPts val="1200"/>
              </a:spcAft>
            </a:pPr>
            <a:r>
              <a:rPr sz="2000">
                <a:solidFill>
                  <a:srgbClr val="404040"/>
                </a:solidFill>
              </a:rPr>
              <a:t>• </a:t>
            </a:r>
            <a:r>
              <a:rPr b="1" sz="2000">
                <a:solidFill>
                  <a:srgbClr val="404040"/>
                </a:solidFill>
              </a:rPr>
              <a:t>Domain Event</a:t>
            </a:r>
            <a:r>
              <a:rPr sz="2000">
                <a:solidFill>
                  <a:srgbClr val="404040"/>
                </a:solidFill>
              </a:rPr>
              <a:t> — something that happened ("Workout Logged", "PR Achieved")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282C34"/>
        </a:solidFill>
        <a:effectLst/>
      </p:bgPr>
    </p:bg>
    <p:spTree>
      <p:nvGrpSpPr>
        <p:cNvPr id="1" name=""/>
        <p:cNvGrpSpPr/>
        <p:nvPr/>
      </p:nvGrpSpPr>
      <p:grpSpPr/>
      <p:sp>
        <p:nvSpPr>
          <p:cNvPr id="2" name="TextBox 1"/>
          <p:cNvSpPr txBox="1"/>
          <p:nvPr/>
        </p:nvSpPr>
        <p:spPr>
          <a:xfrm>
            <a:off x="457200" y="274320"/>
            <a:ext cx="11277295" cy="640080"/>
          </a:xfrm>
          <a:prstGeom prst="rect">
            <a:avLst/>
          </a:prstGeom>
          <a:noFill/>
        </p:spPr>
        <p:txBody>
          <a:bodyPr wrap="none">
            <a:spAutoFit/>
          </a:bodyPr>
          <a:lstStyle/>
          <a:p>
            <a:pPr algn="l">
              <a:defRPr sz="2800" b="1">
                <a:solidFill>
                  <a:srgbClr val="FFFFFF"/>
                </a:solidFill>
              </a:defRPr>
            </a:pPr>
            <a:r>
              <a:t>Bounded Contexts</a:t>
            </a:r>
          </a:p>
        </p:txBody>
      </p:sp>
      <p:sp>
        <p:nvSpPr>
          <p:cNvPr id="3" name="TextBox 2"/>
          <p:cNvSpPr txBox="1"/>
          <p:nvPr/>
        </p:nvSpPr>
        <p:spPr>
          <a:xfrm>
            <a:off x="457200" y="1097280"/>
            <a:ext cx="11277295" cy="5303520"/>
          </a:xfrm>
          <a:prstGeom prst="rect">
            <a:avLst/>
          </a:prstGeom>
          <a:noFill/>
        </p:spPr>
        <p:txBody>
          <a:bodyPr wrap="none">
            <a:spAutoFit/>
          </a:bodyPr>
          <a:lstStyle/>
          <a:p>
            <a:pPr algn="l">
              <a:lnSpc>
                <a:spcPct val="115000"/>
              </a:lnSpc>
              <a:spcAft>
                <a:spcPts val="300"/>
              </a:spcAft>
              <a:defRPr sz="1400">
                <a:solidFill>
                  <a:srgbClr val="DCDCDC"/>
                </a:solidFill>
                <a:latin typeface="Consolas"/>
              </a:defRPr>
            </a:pPr>
            <a:r>
              <a:t>![Bounded Contexts](../diagrams/bounded-contexts.svg)</a:t>
            </a:r>
          </a:p>
          <a:p>
            <a:pPr algn="l">
              <a:lnSpc>
                <a:spcPct val="115000"/>
              </a:lnSpc>
              <a:spcAft>
                <a:spcPts val="1000"/>
              </a:spcAft>
              <a:defRPr sz="1400">
                <a:solidFill>
                  <a:srgbClr val="DCDCDC"/>
                </a:solidFill>
                <a:latin typeface="Consolas"/>
              </a:defRPr>
            </a:pPr>
            <a:r>
              <a:t>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7F00"/>
        </a:solidFill>
        <a:effectLst/>
      </p:bgPr>
    </p:bg>
    <p:spTree>
      <p:nvGrpSpPr>
        <p:cNvPr id="1" name=""/>
        <p:cNvGrpSpPr/>
        <p:nvPr/>
      </p:nvGrpSpPr>
      <p:grpSpPr/>
      <p:sp>
        <p:nvSpPr>
          <p:cNvPr id="2" name="TextBox 1"/>
          <p:cNvSpPr txBox="1"/>
          <p:nvPr/>
        </p:nvSpPr>
        <p:spPr>
          <a:xfrm>
            <a:off x="914400" y="2286000"/>
            <a:ext cx="10362895" cy="1828800"/>
          </a:xfrm>
          <a:prstGeom prst="rect">
            <a:avLst/>
          </a:prstGeom>
          <a:noFill/>
        </p:spPr>
        <p:txBody>
          <a:bodyPr wrap="none">
            <a:spAutoFit/>
          </a:bodyPr>
          <a:lstStyle/>
          <a:p>
            <a:pPr algn="ctr">
              <a:defRPr sz="4800" b="1">
                <a:solidFill>
                  <a:srgbClr val="FFFFFF"/>
                </a:solidFill>
              </a:defRPr>
            </a:pPr>
            <a:r>
              <a:t>Part 3</a:t>
            </a:r>
          </a:p>
        </p:txBody>
      </p:sp>
      <p:sp>
        <p:nvSpPr>
          <p:cNvPr id="3" name="TextBox 2"/>
          <p:cNvSpPr txBox="1"/>
          <p:nvPr/>
        </p:nvSpPr>
        <p:spPr>
          <a:xfrm>
            <a:off x="914400" y="4572000"/>
            <a:ext cx="10362895" cy="914400"/>
          </a:xfrm>
          <a:prstGeom prst="rect">
            <a:avLst/>
          </a:prstGeom>
          <a:noFill/>
        </p:spPr>
        <p:txBody>
          <a:bodyPr wrap="none">
            <a:spAutoFit/>
          </a:bodyPr>
          <a:lstStyle/>
          <a:p>
            <a:pPr algn="ctr">
              <a:defRPr sz="2800">
                <a:solidFill>
                  <a:srgbClr val="1F3864"/>
                </a:solidFill>
              </a:defRPr>
            </a:pPr>
            <a:r>
              <a:t>Microservices, Serverless, and EDA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tIns="182880"/>
          <a:lstStyle/>
          <a:p>
            <a:pPr algn="l">
              <a:defRPr sz="3600" b="1">
                <a:solidFill>
                  <a:srgbClr val="FFFFFF"/>
                </a:solidFill>
              </a:defRPr>
            </a:pPr>
            <a:r>
              <a:t>Microservices vs Serverless</a:t>
            </a:r>
          </a:p>
        </p:txBody>
      </p:sp>
      <p:sp>
        <p:nvSpPr>
          <p:cNvPr id="3" name="TextBox 2"/>
          <p:cNvSpPr txBox="1"/>
          <p:nvPr/>
        </p:nvSpPr>
        <p:spPr>
          <a:xfrm>
            <a:off x="914400" y="1828800"/>
            <a:ext cx="10362895" cy="4572000"/>
          </a:xfrm>
          <a:prstGeom prst="rect">
            <a:avLst/>
          </a:prstGeom>
          <a:noFill/>
        </p:spPr>
        <p:txBody>
          <a:bodyPr wrap="square">
            <a:spAutoFit/>
          </a:bodyPr>
          <a:lstStyle/>
          <a:p>
            <a:pPr>
              <a:spcAft>
                <a:spcPts val="1200"/>
              </a:spcAft>
            </a:pPr>
            <a:r>
              <a:rPr sz="2000">
                <a:solidFill>
                  <a:srgbClr val="404040"/>
                </a:solidFill>
              </a:rPr>
              <a:t>• </a:t>
            </a:r>
            <a:r>
              <a:rPr b="1" sz="2000">
                <a:solidFill>
                  <a:srgbClr val="404040"/>
                </a:solidFill>
              </a:rPr>
              <a:t>Microservices</a:t>
            </a:r>
            <a:r>
              <a:rPr sz="2000">
                <a:solidFill>
                  <a:srgbClr val="404040"/>
                </a:solidFill>
              </a:rPr>
              <a:t> — small, independently deployable services</a:t>
            </a:r>
          </a:p>
          <a:p>
            <a:pPr>
              <a:spcAft>
                <a:spcPts val="1200"/>
              </a:spcAft>
            </a:pPr>
            <a:r>
              <a:rPr sz="2000">
                <a:solidFill>
                  <a:srgbClr val="404040"/>
                </a:solidFill>
              </a:rPr>
              <a:t>• </a:t>
            </a:r>
            <a:r>
              <a:rPr b="1" sz="2000">
                <a:solidFill>
                  <a:srgbClr val="404040"/>
                </a:solidFill>
              </a:rPr>
              <a:t>Serverless</a:t>
            </a:r>
            <a:r>
              <a:rPr sz="2000">
                <a:solidFill>
                  <a:srgbClr val="404040"/>
                </a:solidFill>
              </a:rPr>
              <a:t> — no servers to manage, pay per execution</a:t>
            </a:r>
          </a:p>
          <a:p>
            <a:pPr>
              <a:spcAft>
                <a:spcPts val="1200"/>
              </a:spcAft>
            </a:pPr>
            <a:r>
              <a:rPr sz="2000">
                <a:solidFill>
                  <a:srgbClr val="404040"/>
                </a:solidFill>
              </a:rPr>
              <a:t>• Serverless = microservices taken to the extreme</a:t>
            </a:r>
          </a:p>
          <a:p>
            <a:pPr>
              <a:spcAft>
                <a:spcPts val="1200"/>
              </a:spcAft>
            </a:pPr>
            <a:r>
              <a:rPr sz="2000">
                <a:solidFill>
                  <a:srgbClr val="404040"/>
                </a:solidFill>
              </a:rPr>
              <a:t>• Per-function deployment instead of per-service</a:t>
            </a:r>
          </a:p>
          <a:p>
            <a:pPr>
              <a:spcAft>
                <a:spcPts val="1200"/>
              </a:spcAft>
            </a:pPr>
            <a:r>
              <a:rPr sz="2000">
                <a:solidFill>
                  <a:srgbClr val="404040"/>
                </a:solidFill>
              </a:rPr>
              <a:t>• Per-function scaling instead of per-service</a:t>
            </a:r>
          </a:p>
          <a:p>
            <a:pPr>
              <a:spcAft>
                <a:spcPts val="1200"/>
              </a:spcAft>
            </a:pPr>
            <a:r>
              <a:rPr sz="2000">
                <a:solidFill>
                  <a:srgbClr val="404040"/>
                </a:solidFill>
              </a:rPr>
              <a:t>• </a:t>
            </a:r>
            <a:r>
              <a:rPr b="1" sz="2000">
                <a:solidFill>
                  <a:srgbClr val="404040"/>
                </a:solidFill>
              </a:rPr>
              <a:t>Scales to zero</a:t>
            </a:r>
            <a:r>
              <a:rPr sz="2000">
                <a:solidFill>
                  <a:srgbClr val="404040"/>
                </a:solidFill>
              </a:rPr>
              <a:t> — $0 when nobody is using it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914400" y="1371600"/>
            <a:ext cx="3657600" cy="1828800"/>
          </a:xfrm>
          <a:prstGeom prst="rect">
            <a:avLst/>
          </a:prstGeom>
          <a:noFill/>
        </p:spPr>
        <p:txBody>
          <a:bodyPr wrap="none">
            <a:spAutoFit/>
          </a:bodyPr>
          <a:lstStyle/>
          <a:p>
            <a:pPr algn="ctr">
              <a:defRPr sz="12000" b="1">
                <a:solidFill>
                  <a:srgbClr val="FF7F00"/>
                </a:solidFill>
              </a:defRPr>
            </a:pPr>
            <a:r>
              <a:t>💰</a:t>
            </a:r>
          </a:p>
        </p:txBody>
      </p:sp>
      <p:sp>
        <p:nvSpPr>
          <p:cNvPr id="3" name="TextBox 2"/>
          <p:cNvSpPr txBox="1"/>
          <p:nvPr/>
        </p:nvSpPr>
        <p:spPr>
          <a:xfrm>
            <a:off x="5029200" y="1828800"/>
            <a:ext cx="6248095" cy="914400"/>
          </a:xfrm>
          <a:prstGeom prst="rect">
            <a:avLst/>
          </a:prstGeom>
          <a:noFill/>
        </p:spPr>
        <p:txBody>
          <a:bodyPr wrap="none">
            <a:spAutoFit/>
          </a:bodyPr>
          <a:lstStyle/>
          <a:p>
            <a:pPr>
              <a:defRPr sz="3600" b="1">
                <a:solidFill>
                  <a:srgbClr val="1F3864"/>
                </a:solidFill>
              </a:defRPr>
            </a:pPr>
            <a:r>
              <a:t>Scales to Zero</a:t>
            </a:r>
          </a:p>
        </p:txBody>
      </p:sp>
      <p:sp>
        <p:nvSpPr>
          <p:cNvPr id="4" name="TextBox 3"/>
          <p:cNvSpPr txBox="1"/>
          <p:nvPr/>
        </p:nvSpPr>
        <p:spPr>
          <a:xfrm>
            <a:off x="5029200" y="2926080"/>
            <a:ext cx="6248095" cy="3200400"/>
          </a:xfrm>
          <a:prstGeom prst="rect">
            <a:avLst/>
          </a:prstGeom>
          <a:noFill/>
        </p:spPr>
        <p:txBody>
          <a:bodyPr wrap="square">
            <a:spAutoFit/>
          </a:bodyPr>
          <a:lstStyle/>
          <a:p>
            <a:r>
              <a:rPr sz="1800">
                <a:solidFill>
                  <a:srgbClr val="404040"/>
                </a:solidFill>
              </a:rPr>
              <a:t>No traffic = $0. Spike to 10,000 requests = auto-scales.
No servers to manage, no capacity planning, no idle costs.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tIns="182880"/>
          <a:lstStyle/>
          <a:p>
            <a:pPr algn="l">
              <a:defRPr sz="3600" b="1">
                <a:solidFill>
                  <a:srgbClr val="FFFFFF"/>
                </a:solidFill>
              </a:defRPr>
            </a:pPr>
            <a:r>
              <a:t>AWS Serverless Stack</a:t>
            </a:r>
          </a:p>
        </p:txBody>
      </p:sp>
      <p:sp>
        <p:nvSpPr>
          <p:cNvPr id="3" name="TextBox 2"/>
          <p:cNvSpPr txBox="1"/>
          <p:nvPr/>
        </p:nvSpPr>
        <p:spPr>
          <a:xfrm>
            <a:off x="914400" y="1828800"/>
            <a:ext cx="10362895" cy="4572000"/>
          </a:xfrm>
          <a:prstGeom prst="rect">
            <a:avLst/>
          </a:prstGeom>
          <a:noFill/>
        </p:spPr>
        <p:txBody>
          <a:bodyPr wrap="square">
            <a:spAutoFit/>
          </a:bodyPr>
          <a:lstStyle/>
          <a:p>
            <a:pPr>
              <a:spcAft>
                <a:spcPts val="1200"/>
              </a:spcAft>
            </a:pPr>
            <a:r>
              <a:rPr sz="2000">
                <a:solidFill>
                  <a:srgbClr val="404040"/>
                </a:solidFill>
              </a:rPr>
              <a:t>• </a:t>
            </a:r>
            <a:r>
              <a:rPr b="1" sz="2000">
                <a:solidFill>
                  <a:srgbClr val="404040"/>
                </a:solidFill>
              </a:rPr>
              <a:t>Lambda</a:t>
            </a:r>
            <a:r>
              <a:rPr sz="2000">
                <a:solidFill>
                  <a:srgbClr val="404040"/>
                </a:solidFill>
              </a:rPr>
              <a:t> — compute (run code on demand)</a:t>
            </a:r>
          </a:p>
          <a:p>
            <a:pPr>
              <a:spcAft>
                <a:spcPts val="1200"/>
              </a:spcAft>
            </a:pPr>
            <a:r>
              <a:rPr sz="2000">
                <a:solidFill>
                  <a:srgbClr val="404040"/>
                </a:solidFill>
              </a:rPr>
              <a:t>• </a:t>
            </a:r>
            <a:r>
              <a:rPr b="1" sz="2000">
                <a:solidFill>
                  <a:srgbClr val="404040"/>
                </a:solidFill>
              </a:rPr>
              <a:t>API Gateway</a:t>
            </a:r>
            <a:r>
              <a:rPr sz="2000">
                <a:solidFill>
                  <a:srgbClr val="404040"/>
                </a:solidFill>
              </a:rPr>
              <a:t> — HTTP endpoints</a:t>
            </a:r>
          </a:p>
          <a:p>
            <a:pPr>
              <a:spcAft>
                <a:spcPts val="1200"/>
              </a:spcAft>
            </a:pPr>
            <a:r>
              <a:rPr sz="2000">
                <a:solidFill>
                  <a:srgbClr val="404040"/>
                </a:solidFill>
              </a:rPr>
              <a:t>• </a:t>
            </a:r>
            <a:r>
              <a:rPr b="1" sz="2000">
                <a:solidFill>
                  <a:srgbClr val="404040"/>
                </a:solidFill>
              </a:rPr>
              <a:t>DynamoDB</a:t>
            </a:r>
            <a:r>
              <a:rPr sz="2000">
                <a:solidFill>
                  <a:srgbClr val="404040"/>
                </a:solidFill>
              </a:rPr>
              <a:t> — NoSQL database (on-demand billing)</a:t>
            </a:r>
          </a:p>
          <a:p>
            <a:pPr>
              <a:spcAft>
                <a:spcPts val="1200"/>
              </a:spcAft>
            </a:pPr>
            <a:r>
              <a:rPr sz="2000">
                <a:solidFill>
                  <a:srgbClr val="404040"/>
                </a:solidFill>
              </a:rPr>
              <a:t>• </a:t>
            </a:r>
            <a:r>
              <a:rPr b="1" sz="2000">
                <a:solidFill>
                  <a:srgbClr val="404040"/>
                </a:solidFill>
              </a:rPr>
              <a:t>Cognito</a:t>
            </a:r>
            <a:r>
              <a:rPr sz="2000">
                <a:solidFill>
                  <a:srgbClr val="404040"/>
                </a:solidFill>
              </a:rPr>
              <a:t> — authentication (user pools, JWT)</a:t>
            </a:r>
          </a:p>
          <a:p>
            <a:pPr>
              <a:spcAft>
                <a:spcPts val="1200"/>
              </a:spcAft>
            </a:pPr>
            <a:r>
              <a:rPr sz="2000">
                <a:solidFill>
                  <a:srgbClr val="404040"/>
                </a:solidFill>
              </a:rPr>
              <a:t>• </a:t>
            </a:r>
            <a:r>
              <a:rPr b="1" sz="2000">
                <a:solidFill>
                  <a:srgbClr val="404040"/>
                </a:solidFill>
              </a:rPr>
              <a:t>EventBridge</a:t>
            </a:r>
            <a:r>
              <a:rPr sz="2000">
                <a:solidFill>
                  <a:srgbClr val="404040"/>
                </a:solidFill>
              </a:rPr>
              <a:t> — event routing between services</a:t>
            </a:r>
          </a:p>
          <a:p>
            <a:pPr>
              <a:spcAft>
                <a:spcPts val="1200"/>
              </a:spcAft>
            </a:pPr>
            <a:r>
              <a:rPr sz="2000">
                <a:solidFill>
                  <a:srgbClr val="404040"/>
                </a:solidFill>
              </a:rPr>
              <a:t>• </a:t>
            </a:r>
            <a:r>
              <a:rPr b="1" sz="2000">
                <a:solidFill>
                  <a:srgbClr val="404040"/>
                </a:solidFill>
              </a:rPr>
              <a:t>S3 + CloudFront</a:t>
            </a:r>
            <a:r>
              <a:rPr sz="2000">
                <a:solidFill>
                  <a:srgbClr val="404040"/>
                </a:solidFill>
              </a:rPr>
              <a:t> — frontend hosting and CDN</a:t>
            </a:r>
          </a:p>
          <a:p>
            <a:pPr>
              <a:spcAft>
                <a:spcPts val="1200"/>
              </a:spcAft>
            </a:pPr>
            <a:r>
              <a:rPr sz="2000">
                <a:solidFill>
                  <a:srgbClr val="404040"/>
                </a:solidFill>
              </a:rPr>
              <a:t>• </a:t>
            </a:r>
            <a:r>
              <a:rPr b="1" sz="2000">
                <a:solidFill>
                  <a:srgbClr val="404040"/>
                </a:solidFill>
              </a:rPr>
              <a:t>SAM</a:t>
            </a:r>
            <a:r>
              <a:rPr sz="2000">
                <a:solidFill>
                  <a:srgbClr val="404040"/>
                </a:solidFill>
              </a:rPr>
              <a:t> — Infrastructure as Code for serverless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tIns="182880"/>
          <a:lstStyle/>
          <a:p>
            <a:pPr algn="l">
              <a:defRPr sz="3600" b="1">
                <a:solidFill>
                  <a:srgbClr val="FFFFFF"/>
                </a:solidFill>
              </a:defRPr>
            </a:pPr>
            <a:r>
              <a:t>Event-Driven Architecture (EDA)</a:t>
            </a:r>
          </a:p>
        </p:txBody>
      </p:sp>
      <p:sp>
        <p:nvSpPr>
          <p:cNvPr id="3" name="TextBox 2"/>
          <p:cNvSpPr txBox="1"/>
          <p:nvPr/>
        </p:nvSpPr>
        <p:spPr>
          <a:xfrm>
            <a:off x="914400" y="1828800"/>
            <a:ext cx="10362895" cy="4572000"/>
          </a:xfrm>
          <a:prstGeom prst="rect">
            <a:avLst/>
          </a:prstGeom>
          <a:noFill/>
        </p:spPr>
        <p:txBody>
          <a:bodyPr wrap="square">
            <a:spAutoFit/>
          </a:bodyPr>
          <a:lstStyle/>
          <a:p>
            <a:pPr>
              <a:spcAft>
                <a:spcPts val="1200"/>
              </a:spcAft>
            </a:pPr>
            <a:r>
              <a:rPr sz="2000">
                <a:solidFill>
                  <a:srgbClr val="404040"/>
                </a:solidFill>
              </a:rPr>
              <a:t>• Services communicate through </a:t>
            </a:r>
            <a:r>
              <a:rPr b="1" sz="2000">
                <a:solidFill>
                  <a:srgbClr val="404040"/>
                </a:solidFill>
              </a:rPr>
              <a:t>events</a:t>
            </a:r>
            <a:r>
              <a:rPr sz="2000">
                <a:solidFill>
                  <a:srgbClr val="404040"/>
                </a:solidFill>
              </a:rPr>
              <a:t>, not direct calls</a:t>
            </a:r>
          </a:p>
          <a:p>
            <a:pPr>
              <a:spcAft>
                <a:spcPts val="1200"/>
              </a:spcAft>
            </a:pPr>
            <a:r>
              <a:rPr sz="2000">
                <a:solidFill>
                  <a:srgbClr val="404040"/>
                </a:solidFill>
              </a:rPr>
              <a:t>• Events are </a:t>
            </a:r>
            <a:r>
              <a:rPr b="1" sz="2000">
                <a:solidFill>
                  <a:srgbClr val="404040"/>
                </a:solidFill>
              </a:rPr>
              <a:t>asynchronous</a:t>
            </a:r>
            <a:r>
              <a:rPr sz="2000">
                <a:solidFill>
                  <a:srgbClr val="404040"/>
                </a:solidFill>
              </a:rPr>
              <a:t> — producer doesn't wait for consumer</a:t>
            </a:r>
          </a:p>
          <a:p>
            <a:pPr>
              <a:spcAft>
                <a:spcPts val="1200"/>
              </a:spcAft>
            </a:pPr>
            <a:r>
              <a:rPr sz="2000">
                <a:solidFill>
                  <a:srgbClr val="404040"/>
                </a:solidFill>
              </a:rPr>
              <a:t>• Events are </a:t>
            </a:r>
            <a:r>
              <a:rPr b="1" sz="2000">
                <a:solidFill>
                  <a:srgbClr val="404040"/>
                </a:solidFill>
              </a:rPr>
              <a:t>past tense</a:t>
            </a:r>
            <a:r>
              <a:rPr sz="2000">
                <a:solidFill>
                  <a:srgbClr val="404040"/>
                </a:solidFill>
              </a:rPr>
              <a:t>: "CheckoutCompleted", "SubscriptionCreated"</a:t>
            </a:r>
          </a:p>
          <a:p>
            <a:pPr>
              <a:spcAft>
                <a:spcPts val="1200"/>
              </a:spcAft>
            </a:pPr>
            <a:r>
              <a:rPr sz="2000">
                <a:solidFill>
                  <a:srgbClr val="404040"/>
                </a:solidFill>
              </a:rPr>
              <a:t>• </a:t>
            </a:r>
            <a:r>
              <a:rPr b="1" sz="2000">
                <a:solidFill>
                  <a:srgbClr val="404040"/>
                </a:solidFill>
              </a:rPr>
              <a:t>Loose coupling</a:t>
            </a:r>
            <a:r>
              <a:rPr sz="2000">
                <a:solidFill>
                  <a:srgbClr val="404040"/>
                </a:solidFill>
              </a:rPr>
              <a:t> — services don't know about each other</a:t>
            </a:r>
          </a:p>
          <a:p>
            <a:pPr>
              <a:spcAft>
                <a:spcPts val="1200"/>
              </a:spcAft>
            </a:pPr>
            <a:r>
              <a:rPr sz="2000">
                <a:solidFill>
                  <a:srgbClr val="404040"/>
                </a:solidFill>
              </a:rPr>
              <a:t>• </a:t>
            </a:r>
            <a:r>
              <a:rPr b="1" sz="2000">
                <a:solidFill>
                  <a:srgbClr val="404040"/>
                </a:solidFill>
              </a:rPr>
              <a:t>Resilience</a:t>
            </a:r>
            <a:r>
              <a:rPr sz="2000">
                <a:solidFill>
                  <a:srgbClr val="404040"/>
                </a:solidFill>
              </a:rPr>
              <a:t> — one service failure doesn't cascade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282C34"/>
        </a:solidFill>
        <a:effectLst/>
      </p:bgPr>
    </p:bg>
    <p:spTree>
      <p:nvGrpSpPr>
        <p:cNvPr id="1" name=""/>
        <p:cNvGrpSpPr/>
        <p:nvPr/>
      </p:nvGrpSpPr>
      <p:grpSpPr/>
      <p:sp>
        <p:nvSpPr>
          <p:cNvPr id="2" name="TextBox 1"/>
          <p:cNvSpPr txBox="1"/>
          <p:nvPr/>
        </p:nvSpPr>
        <p:spPr>
          <a:xfrm>
            <a:off x="457200" y="274320"/>
            <a:ext cx="11277295" cy="640080"/>
          </a:xfrm>
          <a:prstGeom prst="rect">
            <a:avLst/>
          </a:prstGeom>
          <a:noFill/>
        </p:spPr>
        <p:txBody>
          <a:bodyPr wrap="none">
            <a:spAutoFit/>
          </a:bodyPr>
          <a:lstStyle/>
          <a:p>
            <a:pPr algn="l">
              <a:defRPr sz="2800" b="1">
                <a:solidFill>
                  <a:srgbClr val="FFFFFF"/>
                </a:solidFill>
              </a:defRPr>
            </a:pPr>
            <a:r>
              <a:t>Sync vs Async</a:t>
            </a:r>
          </a:p>
        </p:txBody>
      </p:sp>
      <p:sp>
        <p:nvSpPr>
          <p:cNvPr id="3" name="TextBox 2"/>
          <p:cNvSpPr txBox="1"/>
          <p:nvPr/>
        </p:nvSpPr>
        <p:spPr>
          <a:xfrm>
            <a:off x="457200" y="1097280"/>
            <a:ext cx="11277295" cy="5303520"/>
          </a:xfrm>
          <a:prstGeom prst="rect">
            <a:avLst/>
          </a:prstGeom>
          <a:noFill/>
        </p:spPr>
        <p:txBody>
          <a:bodyPr wrap="none">
            <a:spAutoFit/>
          </a:bodyPr>
          <a:lstStyle/>
          <a:p>
            <a:pPr algn="l">
              <a:lnSpc>
                <a:spcPct val="115000"/>
              </a:lnSpc>
              <a:spcAft>
                <a:spcPts val="300"/>
              </a:spcAft>
              <a:defRPr sz="1400">
                <a:solidFill>
                  <a:srgbClr val="DCDCDC"/>
                </a:solidFill>
                <a:latin typeface="Consolas"/>
              </a:defRPr>
            </a:pPr>
            <a:r>
              <a:t>![Sync vs Async](../diagrams/sync-vs-async.svg)</a:t>
            </a:r>
          </a:p>
          <a:p>
            <a:pPr algn="l">
              <a:lnSpc>
                <a:spcPct val="115000"/>
              </a:lnSpc>
              <a:spcAft>
                <a:spcPts val="1000"/>
              </a:spcAft>
              <a:defRPr sz="1400">
                <a:solidFill>
                  <a:srgbClr val="DCDCDC"/>
                </a:solidFill>
                <a:latin typeface="Consolas"/>
              </a:defRPr>
            </a:pPr>
            <a:r>
              <a:t> </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tIns="182880"/>
          <a:lstStyle/>
          <a:p>
            <a:pPr algn="l">
              <a:defRPr sz="3600" b="1">
                <a:solidFill>
                  <a:srgbClr val="FFFFFF"/>
                </a:solidFill>
              </a:defRPr>
            </a:pPr>
            <a:r>
              <a:t>EDA Principles</a:t>
            </a:r>
          </a:p>
        </p:txBody>
      </p:sp>
      <p:sp>
        <p:nvSpPr>
          <p:cNvPr id="3" name="TextBox 2"/>
          <p:cNvSpPr txBox="1"/>
          <p:nvPr/>
        </p:nvSpPr>
        <p:spPr>
          <a:xfrm>
            <a:off x="914400" y="1828800"/>
            <a:ext cx="10362895" cy="4572000"/>
          </a:xfrm>
          <a:prstGeom prst="rect">
            <a:avLst/>
          </a:prstGeom>
          <a:noFill/>
        </p:spPr>
        <p:txBody>
          <a:bodyPr wrap="square">
            <a:spAutoFit/>
          </a:bodyPr>
          <a:lstStyle/>
          <a:p>
            <a:pPr>
              <a:spcAft>
                <a:spcPts val="1200"/>
              </a:spcAft>
            </a:pPr>
            <a:r>
              <a:rPr sz="2000">
                <a:solidFill>
                  <a:srgbClr val="404040"/>
                </a:solidFill>
              </a:rPr>
              <a:t>• </a:t>
            </a:r>
            <a:r>
              <a:rPr b="1" sz="2000">
                <a:solidFill>
                  <a:srgbClr val="404040"/>
                </a:solidFill>
              </a:rPr>
              <a:t>Event naming</a:t>
            </a:r>
            <a:r>
              <a:rPr sz="2000">
                <a:solidFill>
                  <a:srgbClr val="404040"/>
                </a:solidFill>
              </a:rPr>
              <a:t> — past tense: "CheckoutCompleted", not "CompleteCheckout"</a:t>
            </a:r>
          </a:p>
          <a:p>
            <a:pPr>
              <a:spcAft>
                <a:spcPts val="1200"/>
              </a:spcAft>
            </a:pPr>
            <a:r>
              <a:rPr sz="2000">
                <a:solidFill>
                  <a:srgbClr val="404040"/>
                </a:solidFill>
              </a:rPr>
              <a:t>• </a:t>
            </a:r>
            <a:r>
              <a:rPr b="1" sz="2000">
                <a:solidFill>
                  <a:srgbClr val="404040"/>
                </a:solidFill>
              </a:rPr>
              <a:t>Idempotency</a:t>
            </a:r>
            <a:r>
              <a:rPr sz="2000">
                <a:solidFill>
                  <a:srgbClr val="404040"/>
                </a:solidFill>
              </a:rPr>
              <a:t> — processing same event twice = same result</a:t>
            </a:r>
          </a:p>
          <a:p>
            <a:pPr>
              <a:spcAft>
                <a:spcPts val="1200"/>
              </a:spcAft>
            </a:pPr>
            <a:r>
              <a:rPr sz="2000">
                <a:solidFill>
                  <a:srgbClr val="404040"/>
                </a:solidFill>
              </a:rPr>
              <a:t>• </a:t>
            </a:r>
            <a:r>
              <a:rPr b="1" sz="2000">
                <a:solidFill>
                  <a:srgbClr val="404040"/>
                </a:solidFill>
              </a:rPr>
              <a:t>Error handling</a:t>
            </a:r>
            <a:r>
              <a:rPr sz="2000">
                <a:solidFill>
                  <a:srgbClr val="404040"/>
                </a:solidFill>
              </a:rPr>
              <a:t> — Dead Letter Queues for failed events</a:t>
            </a:r>
          </a:p>
          <a:p>
            <a:pPr>
              <a:spcAft>
                <a:spcPts val="1200"/>
              </a:spcAft>
            </a:pPr>
            <a:r>
              <a:rPr sz="2000">
                <a:solidFill>
                  <a:srgbClr val="404040"/>
                </a:solidFill>
              </a:rPr>
              <a:t>• </a:t>
            </a:r>
            <a:r>
              <a:rPr b="1" sz="2000">
                <a:solidFill>
                  <a:srgbClr val="404040"/>
                </a:solidFill>
              </a:rPr>
              <a:t>Schema validation</a:t>
            </a:r>
            <a:r>
              <a:rPr sz="2000">
                <a:solidFill>
                  <a:srgbClr val="404040"/>
                </a:solidFill>
              </a:rPr>
              <a:t> — events have defined, versioned schemas</a:t>
            </a:r>
          </a:p>
          <a:p>
            <a:pPr>
              <a:spcAft>
                <a:spcPts val="1200"/>
              </a:spcAft>
            </a:pPr>
            <a:r>
              <a:rPr sz="2000">
                <a:solidFill>
                  <a:srgbClr val="404040"/>
                </a:solidFill>
              </a:rPr>
              <a:t>• </a:t>
            </a:r>
            <a:r>
              <a:rPr b="1" sz="2000">
                <a:solidFill>
                  <a:srgbClr val="404040"/>
                </a:solidFill>
              </a:rPr>
              <a:t>Retry with backoff</a:t>
            </a:r>
            <a:r>
              <a:rPr sz="2000">
                <a:solidFill>
                  <a:srgbClr val="404040"/>
                </a:solidFill>
              </a:rPr>
              <a:t> — exponential delays on failure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7F00"/>
        </a:solidFill>
        <a:effectLst/>
      </p:bgPr>
    </p:bg>
    <p:spTree>
      <p:nvGrpSpPr>
        <p:cNvPr id="1" name=""/>
        <p:cNvGrpSpPr/>
        <p:nvPr/>
      </p:nvGrpSpPr>
      <p:grpSpPr/>
      <p:sp>
        <p:nvSpPr>
          <p:cNvPr id="2" name="TextBox 1"/>
          <p:cNvSpPr txBox="1"/>
          <p:nvPr/>
        </p:nvSpPr>
        <p:spPr>
          <a:xfrm>
            <a:off x="914400" y="2286000"/>
            <a:ext cx="10362895" cy="1828800"/>
          </a:xfrm>
          <a:prstGeom prst="rect">
            <a:avLst/>
          </a:prstGeom>
          <a:noFill/>
        </p:spPr>
        <p:txBody>
          <a:bodyPr wrap="none">
            <a:spAutoFit/>
          </a:bodyPr>
          <a:lstStyle/>
          <a:p>
            <a:pPr algn="ctr">
              <a:defRPr sz="4800" b="1">
                <a:solidFill>
                  <a:srgbClr val="FFFFFF"/>
                </a:solidFill>
              </a:defRPr>
            </a:pPr>
            <a:r>
              <a:t>Part 4</a:t>
            </a:r>
          </a:p>
        </p:txBody>
      </p:sp>
      <p:sp>
        <p:nvSpPr>
          <p:cNvPr id="3" name="TextBox 2"/>
          <p:cNvSpPr txBox="1"/>
          <p:nvPr/>
        </p:nvSpPr>
        <p:spPr>
          <a:xfrm>
            <a:off x="914400" y="4572000"/>
            <a:ext cx="10362895" cy="914400"/>
          </a:xfrm>
          <a:prstGeom prst="rect">
            <a:avLst/>
          </a:prstGeom>
          <a:noFill/>
        </p:spPr>
        <p:txBody>
          <a:bodyPr wrap="none">
            <a:spAutoFit/>
          </a:bodyPr>
          <a:lstStyle/>
          <a:p>
            <a:pPr algn="ctr">
              <a:defRPr sz="2800">
                <a:solidFill>
                  <a:srgbClr val="1F3864"/>
                </a:solidFill>
              </a:defRPr>
            </a:pPr>
            <a:r>
              <a:t>Documenting Architecture: arc42 and C4</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tIns="182880"/>
          <a:lstStyle/>
          <a:p>
            <a:pPr algn="l">
              <a:defRPr sz="3600" b="1">
                <a:solidFill>
                  <a:srgbClr val="FFFFFF"/>
                </a:solidFill>
              </a:defRPr>
            </a:pPr>
            <a:r>
              <a:t>The arc42 Template</a:t>
            </a:r>
          </a:p>
        </p:txBody>
      </p:sp>
      <p:sp>
        <p:nvSpPr>
          <p:cNvPr id="3" name="TextBox 2"/>
          <p:cNvSpPr txBox="1"/>
          <p:nvPr/>
        </p:nvSpPr>
        <p:spPr>
          <a:xfrm>
            <a:off x="914400" y="1828800"/>
            <a:ext cx="10362895" cy="4572000"/>
          </a:xfrm>
          <a:prstGeom prst="rect">
            <a:avLst/>
          </a:prstGeom>
          <a:noFill/>
        </p:spPr>
        <p:txBody>
          <a:bodyPr wrap="square">
            <a:spAutoFit/>
          </a:bodyPr>
          <a:lstStyle/>
          <a:p>
            <a:pPr>
              <a:spcAft>
                <a:spcPts val="1200"/>
              </a:spcAft>
            </a:pPr>
            <a:r>
              <a:rPr sz="2000">
                <a:solidFill>
                  <a:srgbClr val="404040"/>
                </a:solidFill>
              </a:rPr>
              <a:t>• The arc42 Template — 12 Chapters</a:t>
            </a:r>
          </a:p>
          <a:p>
            <a:pPr>
              <a:spcAft>
                <a:spcPts val="1200"/>
              </a:spcAft>
            </a:pPr>
            <a:r>
              <a:rPr sz="2000">
                <a:solidFill>
                  <a:srgbClr val="404040"/>
                </a:solidFill>
              </a:rPr>
              <a:t>• </a:t>
            </a:r>
            <a:r>
              <a:rPr b="1" sz="2000">
                <a:solidFill>
                  <a:srgbClr val="404040"/>
                </a:solidFill>
              </a:rPr>
              <a:t>Ch 1–2:</a:t>
            </a:r>
            <a:r>
              <a:rPr sz="2000">
                <a:solidFill>
                  <a:srgbClr val="404040"/>
                </a:solidFill>
              </a:rPr>
              <a:t> Goals, constraints — why and what limits</a:t>
            </a:r>
          </a:p>
          <a:p>
            <a:pPr>
              <a:spcAft>
                <a:spcPts val="1200"/>
              </a:spcAft>
            </a:pPr>
            <a:r>
              <a:rPr sz="2000">
                <a:solidFill>
                  <a:srgbClr val="404040"/>
                </a:solidFill>
              </a:rPr>
              <a:t>• </a:t>
            </a:r>
            <a:r>
              <a:rPr b="1" sz="2000">
                <a:solidFill>
                  <a:srgbClr val="404040"/>
                </a:solidFill>
              </a:rPr>
              <a:t>Ch 3:</a:t>
            </a:r>
            <a:r>
              <a:rPr sz="2000">
                <a:solidFill>
                  <a:srgbClr val="404040"/>
                </a:solidFill>
              </a:rPr>
              <a:t> Context and scope — system boundary (C4 Level 1)</a:t>
            </a:r>
          </a:p>
          <a:p>
            <a:pPr>
              <a:spcAft>
                <a:spcPts val="1200"/>
              </a:spcAft>
            </a:pPr>
            <a:r>
              <a:rPr sz="2000">
                <a:solidFill>
                  <a:srgbClr val="404040"/>
                </a:solidFill>
              </a:rPr>
              <a:t>• </a:t>
            </a:r>
            <a:r>
              <a:rPr b="1" sz="2000">
                <a:solidFill>
                  <a:srgbClr val="404040"/>
                </a:solidFill>
              </a:rPr>
              <a:t>Ch 4:</a:t>
            </a:r>
            <a:r>
              <a:rPr sz="2000">
                <a:solidFill>
                  <a:srgbClr val="404040"/>
                </a:solidFill>
              </a:rPr>
              <a:t> Solution strategy — key technology decisions</a:t>
            </a:r>
          </a:p>
          <a:p>
            <a:pPr>
              <a:spcAft>
                <a:spcPts val="1200"/>
              </a:spcAft>
            </a:pPr>
            <a:r>
              <a:rPr sz="2000">
                <a:solidFill>
                  <a:srgbClr val="404040"/>
                </a:solidFill>
              </a:rPr>
              <a:t>• </a:t>
            </a:r>
            <a:r>
              <a:rPr b="1" sz="2000">
                <a:solidFill>
                  <a:srgbClr val="404040"/>
                </a:solidFill>
              </a:rPr>
              <a:t>Ch 5:</a:t>
            </a:r>
            <a:r>
              <a:rPr sz="2000">
                <a:solidFill>
                  <a:srgbClr val="404040"/>
                </a:solidFill>
              </a:rPr>
              <a:t> Building blocks — decomposition (C4 Level 2–3)</a:t>
            </a:r>
          </a:p>
          <a:p>
            <a:pPr>
              <a:spcAft>
                <a:spcPts val="1200"/>
              </a:spcAft>
            </a:pPr>
            <a:r>
              <a:rPr sz="2000">
                <a:solidFill>
                  <a:srgbClr val="404040"/>
                </a:solidFill>
              </a:rPr>
              <a:t>• </a:t>
            </a:r>
            <a:r>
              <a:rPr b="1" sz="2000">
                <a:solidFill>
                  <a:srgbClr val="404040"/>
                </a:solidFill>
              </a:rPr>
              <a:t>Ch 6–7:</a:t>
            </a:r>
            <a:r>
              <a:rPr sz="2000">
                <a:solidFill>
                  <a:srgbClr val="404040"/>
                </a:solidFill>
              </a:rPr>
              <a:t> Runtime and deployment views</a:t>
            </a:r>
          </a:p>
          <a:p>
            <a:pPr>
              <a:spcAft>
                <a:spcPts val="1200"/>
              </a:spcAft>
            </a:pPr>
            <a:r>
              <a:rPr sz="2000">
                <a:solidFill>
                  <a:srgbClr val="404040"/>
                </a:solidFill>
              </a:rPr>
              <a:t>• </a:t>
            </a:r>
            <a:r>
              <a:rPr b="1" sz="2000">
                <a:solidFill>
                  <a:srgbClr val="404040"/>
                </a:solidFill>
              </a:rPr>
              <a:t>Ch 8:</a:t>
            </a:r>
            <a:r>
              <a:rPr sz="2000">
                <a:solidFill>
                  <a:srgbClr val="404040"/>
                </a:solidFill>
              </a:rPr>
              <a:t> Cross-cutting concepts — auth, logging, errors</a:t>
            </a:r>
          </a:p>
          <a:p>
            <a:pPr>
              <a:spcAft>
                <a:spcPts val="1200"/>
              </a:spcAft>
            </a:pPr>
            <a:r>
              <a:rPr sz="2000">
                <a:solidFill>
                  <a:srgbClr val="404040"/>
                </a:solidFill>
              </a:rPr>
              <a:t>• </a:t>
            </a:r>
            <a:r>
              <a:rPr b="1" sz="2000">
                <a:solidFill>
                  <a:srgbClr val="404040"/>
                </a:solidFill>
              </a:rPr>
              <a:t>Ch 9:</a:t>
            </a:r>
            <a:r>
              <a:rPr sz="2000">
                <a:solidFill>
                  <a:srgbClr val="404040"/>
                </a:solidFill>
              </a:rPr>
              <a:t> Architecture decisions (ADRs)</a:t>
            </a:r>
          </a:p>
          <a:p>
            <a:pPr>
              <a:spcAft>
                <a:spcPts val="1200"/>
              </a:spcAft>
            </a:pPr>
            <a:r>
              <a:rPr sz="2000">
                <a:solidFill>
                  <a:srgbClr val="404040"/>
                </a:solidFill>
              </a:rPr>
              <a:t>• </a:t>
            </a:r>
            <a:r>
              <a:rPr b="1" sz="2000">
                <a:solidFill>
                  <a:srgbClr val="404040"/>
                </a:solidFill>
              </a:rPr>
              <a:t>Ch 10–12:</a:t>
            </a:r>
            <a:r>
              <a:rPr sz="2000">
                <a:solidFill>
                  <a:srgbClr val="404040"/>
                </a:solidFill>
              </a:rPr>
              <a:t> Quality, risks, glossary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tIns="182880"/>
          <a:lstStyle/>
          <a:p>
            <a:pPr algn="l">
              <a:defRPr sz="3600" b="1">
                <a:solidFill>
                  <a:srgbClr val="FFFFFF"/>
                </a:solidFill>
              </a:defRPr>
            </a:pPr>
            <a:r>
              <a:t>The C4 Model</a:t>
            </a:r>
          </a:p>
        </p:txBody>
      </p:sp>
      <p:sp>
        <p:nvSpPr>
          <p:cNvPr id="3" name="TextBox 2"/>
          <p:cNvSpPr txBox="1"/>
          <p:nvPr/>
        </p:nvSpPr>
        <p:spPr>
          <a:xfrm>
            <a:off x="914400" y="1828800"/>
            <a:ext cx="10362895" cy="4572000"/>
          </a:xfrm>
          <a:prstGeom prst="rect">
            <a:avLst/>
          </a:prstGeom>
          <a:noFill/>
        </p:spPr>
        <p:txBody>
          <a:bodyPr wrap="square">
            <a:spAutoFit/>
          </a:bodyPr>
          <a:lstStyle/>
          <a:p>
            <a:pPr>
              <a:spcAft>
                <a:spcPts val="1200"/>
              </a:spcAft>
            </a:pPr>
            <a:r>
              <a:rPr sz="2000">
                <a:solidFill>
                  <a:srgbClr val="404040"/>
                </a:solidFill>
              </a:rPr>
              <a:t>• The C4 Model — 4 Levels of Zoom</a:t>
            </a:r>
          </a:p>
          <a:p>
            <a:pPr>
              <a:spcAft>
                <a:spcPts val="1200"/>
              </a:spcAft>
            </a:pPr>
            <a:r>
              <a:rPr sz="2000">
                <a:solidFill>
                  <a:srgbClr val="404040"/>
                </a:solidFill>
              </a:rPr>
              <a:t>• </a:t>
            </a:r>
            <a:r>
              <a:rPr b="1" sz="2000">
                <a:solidFill>
                  <a:srgbClr val="404040"/>
                </a:solidFill>
              </a:rPr>
              <a:t>Level 1: System Context</a:t>
            </a:r>
            <a:r>
              <a:rPr sz="2000">
                <a:solidFill>
                  <a:srgbClr val="404040"/>
                </a:solidFill>
              </a:rPr>
              <a:t> — your system + users + external systems</a:t>
            </a:r>
          </a:p>
          <a:p>
            <a:pPr>
              <a:spcAft>
                <a:spcPts val="1200"/>
              </a:spcAft>
            </a:pPr>
            <a:r>
              <a:rPr sz="2000">
                <a:solidFill>
                  <a:srgbClr val="404040"/>
                </a:solidFill>
              </a:rPr>
              <a:t>• </a:t>
            </a:r>
            <a:r>
              <a:rPr b="1" sz="2000">
                <a:solidFill>
                  <a:srgbClr val="404040"/>
                </a:solidFill>
              </a:rPr>
              <a:t>Level 2: Container</a:t>
            </a:r>
            <a:r>
              <a:rPr sz="2000">
                <a:solidFill>
                  <a:srgbClr val="404040"/>
                </a:solidFill>
              </a:rPr>
              <a:t> — APIs, databases, frontends, message buses</a:t>
            </a:r>
          </a:p>
          <a:p>
            <a:pPr>
              <a:spcAft>
                <a:spcPts val="1200"/>
              </a:spcAft>
            </a:pPr>
            <a:r>
              <a:rPr sz="2000">
                <a:solidFill>
                  <a:srgbClr val="404040"/>
                </a:solidFill>
              </a:rPr>
              <a:t>• </a:t>
            </a:r>
            <a:r>
              <a:rPr b="1" sz="2000">
                <a:solidFill>
                  <a:srgbClr val="404040"/>
                </a:solidFill>
              </a:rPr>
              <a:t>Level 3: Component</a:t>
            </a:r>
            <a:r>
              <a:rPr sz="2000">
                <a:solidFill>
                  <a:srgbClr val="404040"/>
                </a:solidFill>
              </a:rPr>
              <a:t> — classes, modules, Lambda functions</a:t>
            </a:r>
          </a:p>
          <a:p>
            <a:pPr>
              <a:spcAft>
                <a:spcPts val="1200"/>
              </a:spcAft>
            </a:pPr>
            <a:r>
              <a:rPr sz="2000">
                <a:solidFill>
                  <a:srgbClr val="404040"/>
                </a:solidFill>
              </a:rPr>
              <a:t>• </a:t>
            </a:r>
            <a:r>
              <a:rPr b="1" sz="2000">
                <a:solidFill>
                  <a:srgbClr val="404040"/>
                </a:solidFill>
              </a:rPr>
              <a:t>Level 4: Code</a:t>
            </a:r>
            <a:r>
              <a:rPr sz="2000">
                <a:solidFill>
                  <a:srgbClr val="404040"/>
                </a:solidFill>
              </a:rPr>
              <a:t> — class diagrams (rarely needed)</a:t>
            </a:r>
          </a:p>
          <a:p>
            <a:pPr>
              <a:spcAft>
                <a:spcPts val="1200"/>
              </a:spcAft>
            </a:pPr>
            <a:r>
              <a:rPr sz="2000">
                <a:solidFill>
                  <a:srgbClr val="404040"/>
                </a:solidFill>
              </a:rPr>
              <a:t>• Each level answers a different question at a different audience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282C34"/>
        </a:solidFill>
        <a:effectLst/>
      </p:bgPr>
    </p:bg>
    <p:spTree>
      <p:nvGrpSpPr>
        <p:cNvPr id="1" name=""/>
        <p:cNvGrpSpPr/>
        <p:nvPr/>
      </p:nvGrpSpPr>
      <p:grpSpPr/>
      <p:sp>
        <p:nvSpPr>
          <p:cNvPr id="2" name="TextBox 1"/>
          <p:cNvSpPr txBox="1"/>
          <p:nvPr/>
        </p:nvSpPr>
        <p:spPr>
          <a:xfrm>
            <a:off x="457200" y="274320"/>
            <a:ext cx="11277295" cy="640080"/>
          </a:xfrm>
          <a:prstGeom prst="rect">
            <a:avLst/>
          </a:prstGeom>
          <a:noFill/>
        </p:spPr>
        <p:txBody>
          <a:bodyPr wrap="none">
            <a:spAutoFit/>
          </a:bodyPr>
          <a:lstStyle/>
          <a:p>
            <a:pPr algn="l">
              <a:defRPr sz="2800" b="1">
                <a:solidFill>
                  <a:srgbClr val="FFFFFF"/>
                </a:solidFill>
              </a:defRPr>
            </a:pPr>
            <a:r>
              <a:t>C4 Level 1 — System Context</a:t>
            </a:r>
          </a:p>
        </p:txBody>
      </p:sp>
      <p:sp>
        <p:nvSpPr>
          <p:cNvPr id="3" name="TextBox 2"/>
          <p:cNvSpPr txBox="1"/>
          <p:nvPr/>
        </p:nvSpPr>
        <p:spPr>
          <a:xfrm>
            <a:off x="457200" y="1097280"/>
            <a:ext cx="11277295" cy="5303520"/>
          </a:xfrm>
          <a:prstGeom prst="rect">
            <a:avLst/>
          </a:prstGeom>
          <a:noFill/>
        </p:spPr>
        <p:txBody>
          <a:bodyPr wrap="none">
            <a:spAutoFit/>
          </a:bodyPr>
          <a:lstStyle/>
          <a:p>
            <a:pPr algn="l">
              <a:lnSpc>
                <a:spcPct val="115000"/>
              </a:lnSpc>
              <a:spcAft>
                <a:spcPts val="300"/>
              </a:spcAft>
              <a:defRPr sz="1400">
                <a:solidFill>
                  <a:srgbClr val="DCDCDC"/>
                </a:solidFill>
                <a:latin typeface="Consolas"/>
              </a:defRPr>
            </a:pPr>
            <a:r>
              <a:t>![System Context](../diagrams/system-context.svg)</a:t>
            </a:r>
          </a:p>
          <a:p>
            <a:pPr algn="l">
              <a:lnSpc>
                <a:spcPct val="115000"/>
              </a:lnSpc>
              <a:spcAft>
                <a:spcPts val="1000"/>
              </a:spcAft>
              <a:defRPr sz="1400">
                <a:solidFill>
                  <a:srgbClr val="DCDCDC"/>
                </a:solidFill>
                <a:latin typeface="Consolas"/>
              </a:defRPr>
            </a:pPr>
            <a:r>
              <a:t> </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282C34"/>
        </a:solidFill>
        <a:effectLst/>
      </p:bgPr>
    </p:bg>
    <p:spTree>
      <p:nvGrpSpPr>
        <p:cNvPr id="1" name=""/>
        <p:cNvGrpSpPr/>
        <p:nvPr/>
      </p:nvGrpSpPr>
      <p:grpSpPr/>
      <p:sp>
        <p:nvSpPr>
          <p:cNvPr id="2" name="TextBox 1"/>
          <p:cNvSpPr txBox="1"/>
          <p:nvPr/>
        </p:nvSpPr>
        <p:spPr>
          <a:xfrm>
            <a:off x="457200" y="274320"/>
            <a:ext cx="11277295" cy="640080"/>
          </a:xfrm>
          <a:prstGeom prst="rect">
            <a:avLst/>
          </a:prstGeom>
          <a:noFill/>
        </p:spPr>
        <p:txBody>
          <a:bodyPr wrap="none">
            <a:spAutoFit/>
          </a:bodyPr>
          <a:lstStyle/>
          <a:p>
            <a:pPr algn="l">
              <a:defRPr sz="2800" b="1">
                <a:solidFill>
                  <a:srgbClr val="FFFFFF"/>
                </a:solidFill>
              </a:defRPr>
            </a:pPr>
            <a:r>
              <a:t>C4 Level 2 — Container</a:t>
            </a:r>
          </a:p>
        </p:txBody>
      </p:sp>
      <p:sp>
        <p:nvSpPr>
          <p:cNvPr id="3" name="TextBox 2"/>
          <p:cNvSpPr txBox="1"/>
          <p:nvPr/>
        </p:nvSpPr>
        <p:spPr>
          <a:xfrm>
            <a:off x="457200" y="1097280"/>
            <a:ext cx="11277295" cy="5303520"/>
          </a:xfrm>
          <a:prstGeom prst="rect">
            <a:avLst/>
          </a:prstGeom>
          <a:noFill/>
        </p:spPr>
        <p:txBody>
          <a:bodyPr wrap="none">
            <a:spAutoFit/>
          </a:bodyPr>
          <a:lstStyle/>
          <a:p>
            <a:pPr algn="l">
              <a:lnSpc>
                <a:spcPct val="115000"/>
              </a:lnSpc>
              <a:spcAft>
                <a:spcPts val="300"/>
              </a:spcAft>
              <a:defRPr sz="1400">
                <a:solidFill>
                  <a:srgbClr val="DCDCDC"/>
                </a:solidFill>
                <a:latin typeface="Consolas"/>
              </a:defRPr>
            </a:pPr>
            <a:r>
              <a:t>![Container Diagram](../diagrams/container-diagram.svg)</a:t>
            </a:r>
          </a:p>
          <a:p>
            <a:pPr algn="l">
              <a:lnSpc>
                <a:spcPct val="115000"/>
              </a:lnSpc>
              <a:spcAft>
                <a:spcPts val="1000"/>
              </a:spcAft>
              <a:defRPr sz="1400">
                <a:solidFill>
                  <a:srgbClr val="DCDCDC"/>
                </a:solidFill>
                <a:latin typeface="Consolas"/>
              </a:defRPr>
            </a:pPr>
            <a:r>
              <a:t> </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tIns="182880"/>
          <a:lstStyle/>
          <a:p>
            <a:pPr algn="l">
              <a:defRPr sz="3600" b="1">
                <a:solidFill>
                  <a:srgbClr val="FFFFFF"/>
                </a:solidFill>
              </a:defRPr>
            </a:pPr>
            <a:r>
              <a:t>PlantUML — Diagrams as Code</a:t>
            </a:r>
          </a:p>
        </p:txBody>
      </p:sp>
      <p:sp>
        <p:nvSpPr>
          <p:cNvPr id="3" name="TextBox 2"/>
          <p:cNvSpPr txBox="1"/>
          <p:nvPr/>
        </p:nvSpPr>
        <p:spPr>
          <a:xfrm>
            <a:off x="914400" y="1828800"/>
            <a:ext cx="10362895" cy="4572000"/>
          </a:xfrm>
          <a:prstGeom prst="rect">
            <a:avLst/>
          </a:prstGeom>
          <a:noFill/>
        </p:spPr>
        <p:txBody>
          <a:bodyPr wrap="square">
            <a:spAutoFit/>
          </a:bodyPr>
          <a:lstStyle/>
          <a:p>
            <a:pPr>
              <a:spcAft>
                <a:spcPts val="1200"/>
              </a:spcAft>
            </a:pPr>
            <a:r>
              <a:rPr sz="2000">
                <a:solidFill>
                  <a:srgbClr val="404040"/>
                </a:solidFill>
              </a:rPr>
              <a:t>• PlantUML: Diagrams as Code</a:t>
            </a:r>
          </a:p>
          <a:p>
            <a:pPr>
              <a:spcAft>
                <a:spcPts val="1200"/>
              </a:spcAft>
            </a:pPr>
            <a:r>
              <a:rPr sz="2000">
                <a:solidFill>
                  <a:srgbClr val="404040"/>
                </a:solidFill>
              </a:rPr>
              <a:t>• Write diagrams in text format → compile to SVG/PNG</a:t>
            </a:r>
          </a:p>
          <a:p>
            <a:pPr>
              <a:spcAft>
                <a:spcPts val="1200"/>
              </a:spcAft>
            </a:pPr>
            <a:r>
              <a:rPr sz="2000">
                <a:solidFill>
                  <a:srgbClr val="404040"/>
                </a:solidFill>
              </a:rPr>
              <a:t>• Versioned in Git alongside your code</a:t>
            </a:r>
          </a:p>
          <a:p>
            <a:pPr>
              <a:spcAft>
                <a:spcPts val="1200"/>
              </a:spcAft>
            </a:pPr>
            <a:r>
              <a:rPr sz="2000">
                <a:solidFill>
                  <a:srgbClr val="404040"/>
                </a:solidFill>
              </a:rPr>
              <a:t>• C4 library available: </a:t>
            </a:r>
            <a:r>
              <a:rPr sz="2000">
                <a:solidFill>
                  <a:srgbClr val="404040"/>
                </a:solidFill>
                <a:latin typeface="Consolas"/>
              </a:rPr>
              <a:t>C4_Context.puml</a:t>
            </a:r>
            <a:r>
              <a:rPr sz="2000">
                <a:solidFill>
                  <a:srgbClr val="404040"/>
                </a:solidFill>
              </a:rPr>
              <a:t>, </a:t>
            </a:r>
            <a:r>
              <a:rPr sz="2000">
                <a:solidFill>
                  <a:srgbClr val="404040"/>
                </a:solidFill>
                <a:latin typeface="Consolas"/>
              </a:rPr>
              <a:t>C4_Container.puml</a:t>
            </a:r>
          </a:p>
          <a:p>
            <a:pPr>
              <a:spcAft>
                <a:spcPts val="1200"/>
              </a:spcAft>
            </a:pPr>
            <a:r>
              <a:rPr sz="2000">
                <a:solidFill>
                  <a:srgbClr val="404040"/>
                </a:solidFill>
              </a:rPr>
              <a:t>• </a:t>
            </a:r>
            <a:r>
              <a:rPr b="1" sz="2000">
                <a:solidFill>
                  <a:srgbClr val="404040"/>
                </a:solidFill>
              </a:rPr>
              <a:t>Pre-commit hook</a:t>
            </a:r>
            <a:r>
              <a:rPr sz="2000">
                <a:solidFill>
                  <a:srgbClr val="404040"/>
                </a:solidFill>
              </a:rPr>
              <a:t> auto-generates SVGs from </a:t>
            </a:r>
            <a:r>
              <a:rPr sz="2000">
                <a:solidFill>
                  <a:srgbClr val="404040"/>
                </a:solidFill>
                <a:latin typeface="Consolas"/>
              </a:rPr>
              <a:t>.puml</a:t>
            </a:r>
            <a:r>
              <a:rPr sz="2000">
                <a:solidFill>
                  <a:srgbClr val="404040"/>
                </a:solidFill>
              </a:rPr>
              <a:t> files</a:t>
            </a:r>
          </a:p>
          <a:p>
            <a:pPr>
              <a:spcAft>
                <a:spcPts val="1200"/>
              </a:spcAft>
            </a:pPr>
            <a:r>
              <a:rPr sz="2000">
                <a:solidFill>
                  <a:srgbClr val="404040"/>
                </a:solidFill>
              </a:rPr>
              <a:t>• No manual diagram generation — commit </a:t>
            </a:r>
            <a:r>
              <a:rPr sz="2000">
                <a:solidFill>
                  <a:srgbClr val="404040"/>
                </a:solidFill>
                <a:latin typeface="Consolas"/>
              </a:rPr>
              <a:t>.puml</a:t>
            </a:r>
            <a:r>
              <a:rPr sz="2000">
                <a:solidFill>
                  <a:srgbClr val="404040"/>
                </a:solidFill>
              </a:rPr>
              <a:t>, get </a:t>
            </a:r>
            <a:r>
              <a:rPr sz="2000">
                <a:solidFill>
                  <a:srgbClr val="404040"/>
                </a:solidFill>
                <a:latin typeface="Consolas"/>
              </a:rPr>
              <a:t>.svg</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282C34"/>
        </a:solidFill>
        <a:effectLst/>
      </p:bgPr>
    </p:bg>
    <p:spTree>
      <p:nvGrpSpPr>
        <p:cNvPr id="1" name=""/>
        <p:cNvGrpSpPr/>
        <p:nvPr/>
      </p:nvGrpSpPr>
      <p:grpSpPr/>
      <p:sp>
        <p:nvSpPr>
          <p:cNvPr id="2" name="TextBox 1"/>
          <p:cNvSpPr txBox="1"/>
          <p:nvPr/>
        </p:nvSpPr>
        <p:spPr>
          <a:xfrm>
            <a:off x="457200" y="274320"/>
            <a:ext cx="11277295" cy="640080"/>
          </a:xfrm>
          <a:prstGeom prst="rect">
            <a:avLst/>
          </a:prstGeom>
          <a:noFill/>
        </p:spPr>
        <p:txBody>
          <a:bodyPr wrap="none">
            <a:spAutoFit/>
          </a:bodyPr>
          <a:lstStyle/>
          <a:p>
            <a:pPr algn="l">
              <a:defRPr sz="2800" b="1">
                <a:solidFill>
                  <a:srgbClr val="FFFFFF"/>
                </a:solidFill>
              </a:defRPr>
            </a:pPr>
            <a:r>
              <a:t>PlantUML Example</a:t>
            </a:r>
          </a:p>
        </p:txBody>
      </p:sp>
      <p:sp>
        <p:nvSpPr>
          <p:cNvPr id="3" name="TextBox 2"/>
          <p:cNvSpPr txBox="1"/>
          <p:nvPr/>
        </p:nvSpPr>
        <p:spPr>
          <a:xfrm>
            <a:off x="457200" y="1097280"/>
            <a:ext cx="11277295" cy="5303520"/>
          </a:xfrm>
          <a:prstGeom prst="rect">
            <a:avLst/>
          </a:prstGeom>
          <a:noFill/>
        </p:spPr>
        <p:txBody>
          <a:bodyPr wrap="none">
            <a:spAutoFit/>
          </a:bodyPr>
          <a:lstStyle/>
          <a:p>
            <a:pPr algn="l">
              <a:lnSpc>
                <a:spcPct val="115000"/>
              </a:lnSpc>
              <a:spcAft>
                <a:spcPts val="300"/>
              </a:spcAft>
              <a:defRPr sz="1400">
                <a:solidFill>
                  <a:srgbClr val="DCDCDC"/>
                </a:solidFill>
                <a:latin typeface="Consolas"/>
              </a:defRPr>
            </a:pPr>
            <a:r>
              <a:t>@startuml c4-context</a:t>
            </a:r>
          </a:p>
          <a:p>
            <a:pPr algn="l">
              <a:lnSpc>
                <a:spcPct val="115000"/>
              </a:lnSpc>
              <a:spcAft>
                <a:spcPts val="300"/>
              </a:spcAft>
              <a:defRPr sz="1400">
                <a:solidFill>
                  <a:srgbClr val="DCDCDC"/>
                </a:solidFill>
                <a:latin typeface="Consolas"/>
              </a:defRPr>
            </a:pPr>
            <a:r>
              <a:t>!include C4_Context.puml</a:t>
            </a:r>
          </a:p>
          <a:p>
            <a:pPr algn="l">
              <a:lnSpc>
                <a:spcPct val="115000"/>
              </a:lnSpc>
              <a:spcAft>
                <a:spcPts val="1000"/>
              </a:spcAft>
              <a:defRPr sz="1400">
                <a:solidFill>
                  <a:srgbClr val="DCDCDC"/>
                </a:solidFill>
                <a:latin typeface="Consolas"/>
              </a:defRPr>
            </a:pPr>
            <a:r>
              <a:t> </a:t>
            </a:r>
          </a:p>
          <a:p>
            <a:pPr algn="l">
              <a:lnSpc>
                <a:spcPct val="115000"/>
              </a:lnSpc>
              <a:spcAft>
                <a:spcPts val="300"/>
              </a:spcAft>
              <a:defRPr sz="1400">
                <a:solidFill>
                  <a:srgbClr val="DCDCDC"/>
                </a:solidFill>
                <a:latin typeface="Consolas"/>
              </a:defRPr>
            </a:pPr>
            <a:r>
              <a:t>title Subscription Platform - System Context</a:t>
            </a:r>
          </a:p>
          <a:p>
            <a:pPr algn="l">
              <a:lnSpc>
                <a:spcPct val="115000"/>
              </a:lnSpc>
              <a:spcAft>
                <a:spcPts val="1000"/>
              </a:spcAft>
              <a:defRPr sz="1400">
                <a:solidFill>
                  <a:srgbClr val="DCDCDC"/>
                </a:solidFill>
                <a:latin typeface="Consolas"/>
              </a:defRPr>
            </a:pPr>
            <a:r>
              <a:t> </a:t>
            </a:r>
          </a:p>
          <a:p>
            <a:pPr algn="l">
              <a:lnSpc>
                <a:spcPct val="115000"/>
              </a:lnSpc>
              <a:spcAft>
                <a:spcPts val="300"/>
              </a:spcAft>
              <a:defRPr sz="1400">
                <a:solidFill>
                  <a:srgbClr val="DCDCDC"/>
                </a:solidFill>
                <a:latin typeface="Consolas"/>
              </a:defRPr>
            </a:pPr>
            <a:r>
              <a:t>Person(user, "Merchant", "Manages products and subscriptions")</a:t>
            </a:r>
          </a:p>
          <a:p>
            <a:pPr algn="l">
              <a:lnSpc>
                <a:spcPct val="115000"/>
              </a:lnSpc>
              <a:spcAft>
                <a:spcPts val="300"/>
              </a:spcAft>
              <a:defRPr sz="1400">
                <a:solidFill>
                  <a:srgbClr val="DCDCDC"/>
                </a:solidFill>
                <a:latin typeface="Consolas"/>
              </a:defRPr>
            </a:pPr>
            <a:r>
              <a:t>System(subplatform, "Subscription Platform", "Payments service")</a:t>
            </a:r>
          </a:p>
          <a:p>
            <a:pPr algn="l">
              <a:lnSpc>
                <a:spcPct val="115000"/>
              </a:lnSpc>
              <a:spcAft>
                <a:spcPts val="300"/>
              </a:spcAft>
              <a:defRPr sz="1400">
                <a:solidFill>
                  <a:srgbClr val="DCDCDC"/>
                </a:solidFill>
                <a:latin typeface="Consolas"/>
              </a:defRPr>
            </a:pPr>
            <a:r>
              <a:t>System_Ext(cognito, "AWS Cognito", "Auth")</a:t>
            </a:r>
          </a:p>
          <a:p>
            <a:pPr algn="l">
              <a:lnSpc>
                <a:spcPct val="115000"/>
              </a:lnSpc>
              <a:spcAft>
                <a:spcPts val="1000"/>
              </a:spcAft>
              <a:defRPr sz="1400">
                <a:solidFill>
                  <a:srgbClr val="DCDCDC"/>
                </a:solidFill>
                <a:latin typeface="Consolas"/>
              </a:defRPr>
            </a:pPr>
            <a:r>
              <a:t> </a:t>
            </a:r>
          </a:p>
          <a:p>
            <a:pPr algn="l">
              <a:lnSpc>
                <a:spcPct val="115000"/>
              </a:lnSpc>
              <a:spcAft>
                <a:spcPts val="300"/>
              </a:spcAft>
              <a:defRPr sz="1400">
                <a:solidFill>
                  <a:srgbClr val="DCDCDC"/>
                </a:solidFill>
                <a:latin typeface="Consolas"/>
              </a:defRPr>
            </a:pPr>
            <a:r>
              <a:t>Rel(user, subplatform, "Uses", "HTTPS")</a:t>
            </a:r>
          </a:p>
          <a:p>
            <a:pPr algn="l">
              <a:lnSpc>
                <a:spcPct val="115000"/>
              </a:lnSpc>
              <a:spcAft>
                <a:spcPts val="300"/>
              </a:spcAft>
              <a:defRPr sz="1400">
                <a:solidFill>
                  <a:srgbClr val="DCDCDC"/>
                </a:solidFill>
                <a:latin typeface="Consolas"/>
              </a:defRPr>
            </a:pPr>
            <a:r>
              <a:t>Rel(subplatform, cognito, "Auth via", "JWT")</a:t>
            </a:r>
          </a:p>
          <a:p>
            <a:pPr algn="l">
              <a:lnSpc>
                <a:spcPct val="115000"/>
              </a:lnSpc>
              <a:spcAft>
                <a:spcPts val="300"/>
              </a:spcAft>
              <a:defRPr sz="1400">
                <a:solidFill>
                  <a:srgbClr val="DCDCDC"/>
                </a:solidFill>
                <a:latin typeface="Consolas"/>
              </a:defRPr>
            </a:pPr>
            <a:r>
              <a:t>@enduml</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tIns="182880"/>
          <a:lstStyle/>
          <a:p>
            <a:pPr algn="l">
              <a:defRPr sz="3600" b="1">
                <a:solidFill>
                  <a:srgbClr val="FFFFFF"/>
                </a:solidFill>
              </a:defRPr>
            </a:pPr>
            <a:r>
              <a:t>Architecture Decision Records</a:t>
            </a:r>
          </a:p>
        </p:txBody>
      </p:sp>
      <p:sp>
        <p:nvSpPr>
          <p:cNvPr id="3" name="TextBox 2"/>
          <p:cNvSpPr txBox="1"/>
          <p:nvPr/>
        </p:nvSpPr>
        <p:spPr>
          <a:xfrm>
            <a:off x="914400" y="1828800"/>
            <a:ext cx="10362895" cy="4572000"/>
          </a:xfrm>
          <a:prstGeom prst="rect">
            <a:avLst/>
          </a:prstGeom>
          <a:noFill/>
        </p:spPr>
        <p:txBody>
          <a:bodyPr wrap="square">
            <a:spAutoFit/>
          </a:bodyPr>
          <a:lstStyle/>
          <a:p>
            <a:pPr>
              <a:spcAft>
                <a:spcPts val="1200"/>
              </a:spcAft>
            </a:pPr>
            <a:r>
              <a:rPr sz="2000">
                <a:solidFill>
                  <a:srgbClr val="404040"/>
                </a:solidFill>
              </a:rPr>
              <a:t>• Architecture Decision Records (ADRs)</a:t>
            </a:r>
          </a:p>
          <a:p>
            <a:pPr>
              <a:spcAft>
                <a:spcPts val="1200"/>
              </a:spcAft>
            </a:pPr>
            <a:r>
              <a:rPr sz="2000">
                <a:solidFill>
                  <a:srgbClr val="404040"/>
                </a:solidFill>
              </a:rPr>
              <a:t>• Documents a single decision with context and consequences</a:t>
            </a:r>
          </a:p>
          <a:p>
            <a:pPr>
              <a:spcAft>
                <a:spcPts val="1200"/>
              </a:spcAft>
            </a:pPr>
            <a:r>
              <a:rPr sz="2000">
                <a:solidFill>
                  <a:srgbClr val="404040"/>
                </a:solidFill>
              </a:rPr>
              <a:t>• Lives in arc42 Chapter 9</a:t>
            </a:r>
          </a:p>
          <a:p>
            <a:pPr>
              <a:spcAft>
                <a:spcPts val="1200"/>
              </a:spcAft>
            </a:pPr>
            <a:r>
              <a:rPr sz="2000">
                <a:solidFill>
                  <a:srgbClr val="404040"/>
                </a:solidFill>
              </a:rPr>
              <a:t>• Format: </a:t>
            </a:r>
            <a:r>
              <a:rPr b="1" sz="2000">
                <a:solidFill>
                  <a:srgbClr val="404040"/>
                </a:solidFill>
              </a:rPr>
              <a:t>Status</a:t>
            </a:r>
            <a:r>
              <a:rPr sz="2000">
                <a:solidFill>
                  <a:srgbClr val="404040"/>
                </a:solidFill>
              </a:rPr>
              <a:t>, </a:t>
            </a:r>
            <a:r>
              <a:rPr b="1" sz="2000">
                <a:solidFill>
                  <a:srgbClr val="404040"/>
                </a:solidFill>
              </a:rPr>
              <a:t>Context</a:t>
            </a:r>
            <a:r>
              <a:rPr sz="2000">
                <a:solidFill>
                  <a:srgbClr val="404040"/>
                </a:solidFill>
              </a:rPr>
              <a:t>, </a:t>
            </a:r>
            <a:r>
              <a:rPr b="1" sz="2000">
                <a:solidFill>
                  <a:srgbClr val="404040"/>
                </a:solidFill>
              </a:rPr>
              <a:t>Decision</a:t>
            </a:r>
            <a:r>
              <a:rPr sz="2000">
                <a:solidFill>
                  <a:srgbClr val="404040"/>
                </a:solidFill>
              </a:rPr>
              <a:t>, </a:t>
            </a:r>
            <a:r>
              <a:rPr b="1" sz="2000">
                <a:solidFill>
                  <a:srgbClr val="404040"/>
                </a:solidFill>
              </a:rPr>
              <a:t>Rationale</a:t>
            </a:r>
            <a:r>
              <a:rPr sz="2000">
                <a:solidFill>
                  <a:srgbClr val="404040"/>
                </a:solidFill>
              </a:rPr>
              <a:t>, </a:t>
            </a:r>
            <a:r>
              <a:rPr b="1" sz="2000">
                <a:solidFill>
                  <a:srgbClr val="404040"/>
                </a:solidFill>
              </a:rPr>
              <a:t>Consequences</a:t>
            </a:r>
          </a:p>
          <a:p>
            <a:pPr>
              <a:spcAft>
                <a:spcPts val="1200"/>
              </a:spcAft>
            </a:pPr>
            <a:r>
              <a:rPr sz="2000">
                <a:solidFill>
                  <a:srgbClr val="404040"/>
                </a:solidFill>
              </a:rPr>
              <a:t>• Captures </a:t>
            </a:r>
            <a:r>
              <a:rPr b="1" sz="2000">
                <a:solidFill>
                  <a:srgbClr val="404040"/>
                </a:solidFill>
              </a:rPr>
              <a:t>why</a:t>
            </a:r>
            <a:r>
              <a:rPr sz="2000">
                <a:solidFill>
                  <a:srgbClr val="404040"/>
                </a:solidFill>
              </a:rPr>
              <a:t>, not just what</a:t>
            </a:r>
          </a:p>
          <a:p>
            <a:pPr>
              <a:spcAft>
                <a:spcPts val="1200"/>
              </a:spcAft>
            </a:pPr>
            <a:r>
              <a:rPr sz="2000">
                <a:solidFill>
                  <a:srgbClr val="404040"/>
                </a:solidFill>
              </a:rPr>
              <a:t>• Six months later: "Why DynamoDB?" → ADR has the answer</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282C34"/>
        </a:solidFill>
        <a:effectLst/>
      </p:bgPr>
    </p:bg>
    <p:spTree>
      <p:nvGrpSpPr>
        <p:cNvPr id="1" name=""/>
        <p:cNvGrpSpPr/>
        <p:nvPr/>
      </p:nvGrpSpPr>
      <p:grpSpPr/>
      <p:sp>
        <p:nvSpPr>
          <p:cNvPr id="2" name="TextBox 1"/>
          <p:cNvSpPr txBox="1"/>
          <p:nvPr/>
        </p:nvSpPr>
        <p:spPr>
          <a:xfrm>
            <a:off x="457200" y="274320"/>
            <a:ext cx="11277295" cy="640080"/>
          </a:xfrm>
          <a:prstGeom prst="rect">
            <a:avLst/>
          </a:prstGeom>
          <a:noFill/>
        </p:spPr>
        <p:txBody>
          <a:bodyPr wrap="none">
            <a:spAutoFit/>
          </a:bodyPr>
          <a:lstStyle/>
          <a:p>
            <a:pPr algn="l">
              <a:defRPr sz="2800" b="1">
                <a:solidFill>
                  <a:srgbClr val="FFFFFF"/>
                </a:solidFill>
              </a:defRPr>
            </a:pPr>
            <a:r>
              <a:t>ADR Example</a:t>
            </a:r>
          </a:p>
        </p:txBody>
      </p:sp>
      <p:sp>
        <p:nvSpPr>
          <p:cNvPr id="3" name="TextBox 2"/>
          <p:cNvSpPr txBox="1"/>
          <p:nvPr/>
        </p:nvSpPr>
        <p:spPr>
          <a:xfrm>
            <a:off x="457200" y="1097280"/>
            <a:ext cx="11277295" cy="5303520"/>
          </a:xfrm>
          <a:prstGeom prst="rect">
            <a:avLst/>
          </a:prstGeom>
          <a:noFill/>
        </p:spPr>
        <p:txBody>
          <a:bodyPr wrap="none">
            <a:spAutoFit/>
          </a:bodyPr>
          <a:lstStyle/>
          <a:p>
            <a:pPr algn="l">
              <a:lnSpc>
                <a:spcPct val="115000"/>
              </a:lnSpc>
              <a:spcAft>
                <a:spcPts val="300"/>
              </a:spcAft>
              <a:defRPr sz="1400">
                <a:solidFill>
                  <a:srgbClr val="DCDCDC"/>
                </a:solidFill>
                <a:latin typeface="Consolas"/>
              </a:defRPr>
            </a:pPr>
            <a:r>
              <a:t>## ADR-001: Use DynamoDB Single-Table Design</a:t>
            </a:r>
          </a:p>
          <a:p>
            <a:pPr algn="l">
              <a:lnSpc>
                <a:spcPct val="115000"/>
              </a:lnSpc>
              <a:spcAft>
                <a:spcPts val="1000"/>
              </a:spcAft>
              <a:defRPr sz="1400">
                <a:solidFill>
                  <a:srgbClr val="DCDCDC"/>
                </a:solidFill>
                <a:latin typeface="Consolas"/>
              </a:defRPr>
            </a:pPr>
            <a:r>
              <a:t> </a:t>
            </a:r>
          </a:p>
          <a:p>
            <a:pPr algn="l">
              <a:lnSpc>
                <a:spcPct val="115000"/>
              </a:lnSpc>
              <a:spcAft>
                <a:spcPts val="300"/>
              </a:spcAft>
              <a:defRPr sz="1400">
                <a:solidFill>
                  <a:srgbClr val="DCDCDC"/>
                </a:solidFill>
                <a:latin typeface="Consolas"/>
              </a:defRPr>
            </a:pPr>
            <a:r>
              <a:t>**Status:** Accepted</a:t>
            </a:r>
          </a:p>
          <a:p>
            <a:pPr algn="l">
              <a:lnSpc>
                <a:spcPct val="115000"/>
              </a:lnSpc>
              <a:spcAft>
                <a:spcPts val="1000"/>
              </a:spcAft>
              <a:defRPr sz="1400">
                <a:solidFill>
                  <a:srgbClr val="DCDCDC"/>
                </a:solidFill>
                <a:latin typeface="Consolas"/>
              </a:defRPr>
            </a:pPr>
            <a:r>
              <a:t> </a:t>
            </a:r>
          </a:p>
          <a:p>
            <a:pPr algn="l">
              <a:lnSpc>
                <a:spcPct val="115000"/>
              </a:lnSpc>
              <a:spcAft>
                <a:spcPts val="300"/>
              </a:spcAft>
              <a:defRPr sz="1400">
                <a:solidFill>
                  <a:srgbClr val="DCDCDC"/>
                </a:solidFill>
                <a:latin typeface="Consolas"/>
              </a:defRPr>
            </a:pPr>
            <a:r>
              <a:t>**Context:**</a:t>
            </a:r>
          </a:p>
          <a:p>
            <a:pPr algn="l">
              <a:lnSpc>
                <a:spcPct val="115000"/>
              </a:lnSpc>
              <a:spcAft>
                <a:spcPts val="300"/>
              </a:spcAft>
              <a:defRPr sz="1400">
                <a:solidFill>
                  <a:srgbClr val="DCDCDC"/>
                </a:solidFill>
                <a:latin typeface="Consolas"/>
              </a:defRPr>
            </a:pPr>
            <a:r>
              <a:t>The Subscription Platform needs a database. We need fast reads,</a:t>
            </a:r>
          </a:p>
          <a:p>
            <a:pPr algn="l">
              <a:lnSpc>
                <a:spcPct val="115000"/>
              </a:lnSpc>
              <a:spcAft>
                <a:spcPts val="300"/>
              </a:spcAft>
              <a:defRPr sz="1400">
                <a:solidFill>
                  <a:srgbClr val="DCDCDC"/>
                </a:solidFill>
                <a:latin typeface="Consolas"/>
              </a:defRPr>
            </a:pPr>
            <a:r>
              <a:t>low cost, and serverless scaling.</a:t>
            </a:r>
          </a:p>
          <a:p>
            <a:pPr algn="l">
              <a:lnSpc>
                <a:spcPct val="115000"/>
              </a:lnSpc>
              <a:spcAft>
                <a:spcPts val="1000"/>
              </a:spcAft>
              <a:defRPr sz="1400">
                <a:solidFill>
                  <a:srgbClr val="DCDCDC"/>
                </a:solidFill>
                <a:latin typeface="Consolas"/>
              </a:defRPr>
            </a:pPr>
            <a:r>
              <a:t> </a:t>
            </a:r>
          </a:p>
          <a:p>
            <a:pPr algn="l">
              <a:lnSpc>
                <a:spcPct val="115000"/>
              </a:lnSpc>
              <a:spcAft>
                <a:spcPts val="300"/>
              </a:spcAft>
              <a:defRPr sz="1400">
                <a:solidFill>
                  <a:srgbClr val="DCDCDC"/>
                </a:solidFill>
                <a:latin typeface="Consolas"/>
              </a:defRPr>
            </a:pPr>
            <a:r>
              <a:t>**Decision:**</a:t>
            </a:r>
          </a:p>
          <a:p>
            <a:pPr algn="l">
              <a:lnSpc>
                <a:spcPct val="115000"/>
              </a:lnSpc>
              <a:spcAft>
                <a:spcPts val="300"/>
              </a:spcAft>
              <a:defRPr sz="1400">
                <a:solidFill>
                  <a:srgbClr val="DCDCDC"/>
                </a:solidFill>
                <a:latin typeface="Consolas"/>
              </a:defRPr>
            </a:pPr>
            <a:r>
              <a:t>Use DynamoDB with single-table design.</a:t>
            </a:r>
          </a:p>
          <a:p>
            <a:pPr algn="l">
              <a:lnSpc>
                <a:spcPct val="115000"/>
              </a:lnSpc>
              <a:spcAft>
                <a:spcPts val="1000"/>
              </a:spcAft>
              <a:defRPr sz="1400">
                <a:solidFill>
                  <a:srgbClr val="DCDCDC"/>
                </a:solidFill>
                <a:latin typeface="Consolas"/>
              </a:defRPr>
            </a:pPr>
            <a:r>
              <a:t> </a:t>
            </a:r>
          </a:p>
          <a:p>
            <a:pPr algn="l">
              <a:lnSpc>
                <a:spcPct val="115000"/>
              </a:lnSpc>
              <a:spcAft>
                <a:spcPts val="300"/>
              </a:spcAft>
              <a:defRPr sz="1400">
                <a:solidFill>
                  <a:srgbClr val="DCDCDC"/>
                </a:solidFill>
                <a:latin typeface="Consolas"/>
              </a:defRPr>
            </a:pPr>
            <a:r>
              <a:t>**Rationale:**</a:t>
            </a:r>
          </a:p>
          <a:p>
            <a:pPr algn="l">
              <a:lnSpc>
                <a:spcPct val="115000"/>
              </a:lnSpc>
              <a:spcAft>
                <a:spcPts val="300"/>
              </a:spcAft>
              <a:defRPr sz="1400">
                <a:solidFill>
                  <a:srgbClr val="DCDCDC"/>
                </a:solidFill>
                <a:latin typeface="Consolas"/>
              </a:defRPr>
            </a:pPr>
            <a:r>
              <a:t>- Scales to zero (on-demand billing)</a:t>
            </a:r>
          </a:p>
          <a:p>
            <a:pPr algn="l">
              <a:lnSpc>
                <a:spcPct val="115000"/>
              </a:lnSpc>
              <a:spcAft>
                <a:spcPts val="300"/>
              </a:spcAft>
              <a:defRPr sz="1400">
                <a:solidFill>
                  <a:srgbClr val="DCDCDC"/>
                </a:solidFill>
                <a:latin typeface="Consolas"/>
              </a:defRPr>
            </a:pPr>
            <a:r>
              <a:t>- Single-digit ms latency</a:t>
            </a:r>
          </a:p>
          <a:p>
            <a:pPr algn="l">
              <a:lnSpc>
                <a:spcPct val="115000"/>
              </a:lnSpc>
              <a:spcAft>
                <a:spcPts val="300"/>
              </a:spcAft>
              <a:defRPr sz="1400">
                <a:solidFill>
                  <a:srgbClr val="DCDCDC"/>
                </a:solidFill>
                <a:latin typeface="Consolas"/>
              </a:defRPr>
            </a:pPr>
            <a:r>
              <a:t>- No connection pooling needed</a:t>
            </a:r>
          </a:p>
          <a:p>
            <a:pPr algn="l">
              <a:lnSpc>
                <a:spcPct val="115000"/>
              </a:lnSpc>
              <a:spcAft>
                <a:spcPts val="300"/>
              </a:spcAft>
              <a:defRPr sz="1400">
                <a:solidFill>
                  <a:srgbClr val="DCDCDC"/>
                </a:solidFill>
                <a:latin typeface="Consolas"/>
              </a:defRPr>
            </a:pPr>
            <a:r>
              <a:t>- Fits serverless model perfectly</a:t>
            </a:r>
          </a:p>
          <a:p>
            <a:pPr algn="l">
              <a:lnSpc>
                <a:spcPct val="115000"/>
              </a:lnSpc>
              <a:spcAft>
                <a:spcPts val="1000"/>
              </a:spcAft>
              <a:defRPr sz="1400">
                <a:solidFill>
                  <a:srgbClr val="DCDCDC"/>
                </a:solidFill>
                <a:latin typeface="Consolas"/>
              </a:defRPr>
            </a:pPr>
            <a:r>
              <a:t> </a:t>
            </a:r>
          </a:p>
          <a:p>
            <a:pPr algn="l">
              <a:lnSpc>
                <a:spcPct val="115000"/>
              </a:lnSpc>
              <a:spcAft>
                <a:spcPts val="300"/>
              </a:spcAft>
              <a:defRPr sz="1400">
                <a:solidFill>
                  <a:srgbClr val="DCDCDC"/>
                </a:solidFill>
                <a:latin typeface="Consolas"/>
              </a:defRPr>
            </a:pPr>
            <a:r>
              <a:t>**Consequences:**</a:t>
            </a:r>
          </a:p>
          <a:p>
            <a:pPr algn="l">
              <a:lnSpc>
                <a:spcPct val="115000"/>
              </a:lnSpc>
              <a:spcAft>
                <a:spcPts val="300"/>
              </a:spcAft>
              <a:defRPr sz="1400">
                <a:solidFill>
                  <a:srgbClr val="DCDCDC"/>
                </a:solidFill>
                <a:latin typeface="Consolas"/>
              </a:defRPr>
            </a:pPr>
            <a:r>
              <a:t>- Access patterns must be designed upfront</a:t>
            </a:r>
          </a:p>
          <a:p>
            <a:pPr algn="l">
              <a:lnSpc>
                <a:spcPct val="115000"/>
              </a:lnSpc>
              <a:spcAft>
                <a:spcPts val="300"/>
              </a:spcAft>
              <a:defRPr sz="1400">
                <a:solidFill>
                  <a:srgbClr val="DCDCDC"/>
                </a:solidFill>
                <a:latin typeface="Consolas"/>
              </a:defRPr>
            </a:pPr>
            <a:r>
              <a:t>- Less flexible queries than SQL</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7F00"/>
        </a:solidFill>
        <a:effectLst/>
      </p:bgPr>
    </p:bg>
    <p:spTree>
      <p:nvGrpSpPr>
        <p:cNvPr id="1" name=""/>
        <p:cNvGrpSpPr/>
        <p:nvPr/>
      </p:nvGrpSpPr>
      <p:grpSpPr/>
      <p:sp>
        <p:nvSpPr>
          <p:cNvPr id="2" name="TextBox 1"/>
          <p:cNvSpPr txBox="1"/>
          <p:nvPr/>
        </p:nvSpPr>
        <p:spPr>
          <a:xfrm>
            <a:off x="914400" y="2286000"/>
            <a:ext cx="10362895" cy="1828800"/>
          </a:xfrm>
          <a:prstGeom prst="rect">
            <a:avLst/>
          </a:prstGeom>
          <a:noFill/>
        </p:spPr>
        <p:txBody>
          <a:bodyPr wrap="none">
            <a:spAutoFit/>
          </a:bodyPr>
          <a:lstStyle/>
          <a:p>
            <a:pPr algn="ctr">
              <a:defRPr sz="4800" b="1">
                <a:solidFill>
                  <a:srgbClr val="FFFFFF"/>
                </a:solidFill>
              </a:defRPr>
            </a:pPr>
            <a:r>
              <a:t>Part 5</a:t>
            </a:r>
          </a:p>
        </p:txBody>
      </p:sp>
      <p:sp>
        <p:nvSpPr>
          <p:cNvPr id="3" name="TextBox 2"/>
          <p:cNvSpPr txBox="1"/>
          <p:nvPr/>
        </p:nvSpPr>
        <p:spPr>
          <a:xfrm>
            <a:off x="914400" y="4572000"/>
            <a:ext cx="10362895" cy="914400"/>
          </a:xfrm>
          <a:prstGeom prst="rect">
            <a:avLst/>
          </a:prstGeom>
          <a:noFill/>
        </p:spPr>
        <p:txBody>
          <a:bodyPr wrap="none">
            <a:spAutoFit/>
          </a:bodyPr>
          <a:lstStyle/>
          <a:p>
            <a:pPr algn="ctr">
              <a:defRPr sz="2800">
                <a:solidFill>
                  <a:srgbClr val="1F3864"/>
                </a:solidFill>
              </a:defRPr>
            </a:pPr>
            <a:r>
              <a:t>Exercises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tIns="182880"/>
          <a:lstStyle/>
          <a:p>
            <a:pPr algn="l">
              <a:defRPr sz="3600" b="1">
                <a:solidFill>
                  <a:srgbClr val="FFFFFF"/>
                </a:solidFill>
              </a:defRPr>
            </a:pPr>
            <a:r>
              <a:t>Coding Dojo Kata Catalogue</a:t>
            </a:r>
          </a:p>
        </p:txBody>
      </p:sp>
      <p:sp>
        <p:nvSpPr>
          <p:cNvPr id="3" name="TextBox 2"/>
          <p:cNvSpPr txBox="1"/>
          <p:nvPr/>
        </p:nvSpPr>
        <p:spPr>
          <a:xfrm>
            <a:off x="914400" y="1828800"/>
            <a:ext cx="10362895" cy="4572000"/>
          </a:xfrm>
          <a:prstGeom prst="rect">
            <a:avLst/>
          </a:prstGeom>
          <a:noFill/>
        </p:spPr>
        <p:txBody>
          <a:bodyPr wrap="square">
            <a:spAutoFit/>
          </a:bodyPr>
          <a:lstStyle/>
          <a:p>
            <a:pPr>
              <a:spcAft>
                <a:spcPts val="1200"/>
              </a:spcAft>
            </a:pPr>
            <a:r>
              <a:rPr sz="2000">
                <a:solidFill>
                  <a:srgbClr val="404040"/>
                </a:solidFill>
              </a:rPr>
              <a:t>• A </a:t>
            </a:r>
            <a:r>
              <a:rPr b="1" sz="2000">
                <a:solidFill>
                  <a:srgbClr val="404040"/>
                </a:solidFill>
              </a:rPr>
              <a:t>kata</a:t>
            </a:r>
            <a:r>
              <a:rPr sz="2000">
                <a:solidFill>
                  <a:srgbClr val="404040"/>
                </a:solidFill>
              </a:rPr>
              <a:t> is a small programming exercise for deliberate practice</a:t>
            </a:r>
          </a:p>
          <a:p>
            <a:pPr>
              <a:spcAft>
                <a:spcPts val="1200"/>
              </a:spcAft>
            </a:pPr>
            <a:r>
              <a:rPr sz="2000">
                <a:solidFill>
                  <a:srgbClr val="404040"/>
                </a:solidFill>
              </a:rPr>
              <a:t>• Term from martial arts — repeat until it becomes second nature</a:t>
            </a:r>
          </a:p>
          <a:p>
            <a:pPr>
              <a:spcAft>
                <a:spcPts val="1200"/>
              </a:spcAft>
            </a:pPr>
            <a:r>
              <a:rPr sz="2000">
                <a:solidFill>
                  <a:srgbClr val="404040"/>
                </a:solidFill>
              </a:rPr>
              <a:t>• https://codingdojo.org/kata/ — dozens of katas, simple to complex</a:t>
            </a:r>
          </a:p>
          <a:p>
            <a:pPr>
              <a:spcAft>
                <a:spcPts val="1200"/>
              </a:spcAft>
            </a:pPr>
            <a:r>
              <a:rPr sz="2000">
                <a:solidFill>
                  <a:srgbClr val="404040"/>
                </a:solidFill>
              </a:rPr>
              <a:t>• </a:t>
            </a:r>
            <a:r>
              <a:rPr b="1" sz="2000">
                <a:solidFill>
                  <a:srgbClr val="404040"/>
                </a:solidFill>
              </a:rPr>
              <a:t>Choose one kata</a:t>
            </a:r>
            <a:r>
              <a:rPr sz="2000">
                <a:solidFill>
                  <a:srgbClr val="404040"/>
                </a:solidFill>
              </a:rPr>
              <a:t> for this module and all following modules</a:t>
            </a:r>
          </a:p>
          <a:p>
            <a:pPr>
              <a:spcAft>
                <a:spcPts val="1200"/>
              </a:spcAft>
            </a:pPr>
            <a:r>
              <a:rPr sz="2000">
                <a:solidFill>
                  <a:srgbClr val="404040"/>
                </a:solidFill>
              </a:rPr>
              <a:t>• Good choices: BankOCR, Minesweeper, Game of Life, Bowling, Mars Rover</a:t>
            </a:r>
          </a:p>
          <a:p>
            <a:pPr>
              <a:spcAft>
                <a:spcPts val="1200"/>
              </a:spcAft>
            </a:pPr>
            <a:r>
              <a:rPr sz="2000">
                <a:solidFill>
                  <a:srgbClr val="404040"/>
                </a:solidFill>
              </a:rPr>
              <a:t>• Pick one with enough complexity for 2–3 bounded contexts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tIns="182880"/>
          <a:lstStyle/>
          <a:p>
            <a:pPr algn="l">
              <a:defRPr sz="3600" b="1">
                <a:solidFill>
                  <a:srgbClr val="FFFFFF"/>
                </a:solidFill>
              </a:defRPr>
            </a:pPr>
            <a:r>
              <a:t>Exercise Part 1</a:t>
            </a:r>
          </a:p>
        </p:txBody>
      </p:sp>
      <p:sp>
        <p:nvSpPr>
          <p:cNvPr id="3" name="TextBox 2"/>
          <p:cNvSpPr txBox="1"/>
          <p:nvPr/>
        </p:nvSpPr>
        <p:spPr>
          <a:xfrm>
            <a:off x="914400" y="1828800"/>
            <a:ext cx="10362895" cy="4572000"/>
          </a:xfrm>
          <a:prstGeom prst="rect">
            <a:avLst/>
          </a:prstGeom>
          <a:noFill/>
        </p:spPr>
        <p:txBody>
          <a:bodyPr wrap="square">
            <a:spAutoFit/>
          </a:bodyPr>
          <a:lstStyle/>
          <a:p>
            <a:pPr>
              <a:spcAft>
                <a:spcPts val="1200"/>
              </a:spcAft>
            </a:pPr>
            <a:r>
              <a:rPr sz="2000">
                <a:solidFill>
                  <a:srgbClr val="404040"/>
                </a:solidFill>
              </a:rPr>
              <a:t>• Exercise Part 1: Manual</a:t>
            </a:r>
          </a:p>
          <a:p>
            <a:pPr>
              <a:spcAft>
                <a:spcPts val="1200"/>
              </a:spcAft>
            </a:pPr>
            <a:r>
              <a:rPr sz="2000">
                <a:solidFill>
                  <a:srgbClr val="404040"/>
                </a:solidFill>
              </a:rPr>
              <a:t>• Study arc42 template at arc42.org/overview</a:t>
            </a:r>
          </a:p>
          <a:p>
            <a:pPr>
              <a:spcAft>
                <a:spcPts val="1200"/>
              </a:spcAft>
            </a:pPr>
            <a:r>
              <a:rPr sz="2000">
                <a:solidFill>
                  <a:srgbClr val="404040"/>
                </a:solidFill>
              </a:rPr>
              <a:t>• Study C4 model at c4model.com</a:t>
            </a:r>
          </a:p>
          <a:p>
            <a:pPr>
              <a:spcAft>
                <a:spcPts val="1200"/>
              </a:spcAft>
            </a:pPr>
            <a:r>
              <a:rPr sz="2000">
                <a:solidFill>
                  <a:srgbClr val="404040"/>
                </a:solidFill>
              </a:rPr>
              <a:t>• Set up PlantUML pre-commit hook for auto SVG generation</a:t>
            </a:r>
          </a:p>
          <a:p>
            <a:pPr>
              <a:spcAft>
                <a:spcPts val="1200"/>
              </a:spcAft>
            </a:pPr>
            <a:r>
              <a:rPr sz="2000">
                <a:solidFill>
                  <a:srgbClr val="404040"/>
                </a:solidFill>
              </a:rPr>
              <a:t>• Write a C4 Context diagram for your chosen kata</a:t>
            </a:r>
          </a:p>
          <a:p>
            <a:pPr>
              <a:spcAft>
                <a:spcPts val="1200"/>
              </a:spcAft>
            </a:pPr>
            <a:r>
              <a:rPr sz="2000">
                <a:solidFill>
                  <a:srgbClr val="404040"/>
                </a:solidFill>
              </a:rPr>
              <a:t>• Write ADR-001: technology stack decision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tIns="182880"/>
          <a:lstStyle/>
          <a:p>
            <a:pPr algn="l">
              <a:defRPr sz="3600" b="1">
                <a:solidFill>
                  <a:srgbClr val="FFFFFF"/>
                </a:solidFill>
              </a:defRPr>
            </a:pPr>
            <a:r>
              <a:t>Exercise Part 2</a:t>
            </a:r>
          </a:p>
        </p:txBody>
      </p:sp>
      <p:sp>
        <p:nvSpPr>
          <p:cNvPr id="3" name="TextBox 2"/>
          <p:cNvSpPr txBox="1"/>
          <p:nvPr/>
        </p:nvSpPr>
        <p:spPr>
          <a:xfrm>
            <a:off x="914400" y="1828800"/>
            <a:ext cx="10362895" cy="4572000"/>
          </a:xfrm>
          <a:prstGeom prst="rect">
            <a:avLst/>
          </a:prstGeom>
          <a:noFill/>
        </p:spPr>
        <p:txBody>
          <a:bodyPr wrap="square">
            <a:spAutoFit/>
          </a:bodyPr>
          <a:lstStyle/>
          <a:p>
            <a:pPr>
              <a:spcAft>
                <a:spcPts val="1200"/>
              </a:spcAft>
            </a:pPr>
            <a:r>
              <a:rPr sz="2000">
                <a:solidFill>
                  <a:srgbClr val="404040"/>
                </a:solidFill>
              </a:rPr>
              <a:t>• Exercise Part 2: Architecture Agent</a:t>
            </a:r>
          </a:p>
          <a:p>
            <a:pPr>
              <a:spcAft>
                <a:spcPts val="1200"/>
              </a:spcAft>
            </a:pPr>
            <a:r>
              <a:rPr sz="2000">
                <a:solidFill>
                  <a:srgbClr val="404040"/>
                </a:solidFill>
              </a:rPr>
              <a:t>• Build </a:t>
            </a:r>
            <a:r>
              <a:rPr sz="2000">
                <a:solidFill>
                  <a:srgbClr val="404040"/>
                </a:solidFill>
                <a:latin typeface="Consolas"/>
              </a:rPr>
              <a:t>.kiro/agents/architecture-agent.json</a:t>
            </a:r>
          </a:p>
          <a:p>
            <a:pPr>
              <a:spcAft>
                <a:spcPts val="1200"/>
              </a:spcAft>
            </a:pPr>
            <a:r>
              <a:rPr sz="2000">
                <a:solidFill>
                  <a:srgbClr val="404040"/>
                </a:solidFill>
              </a:rPr>
              <a:t>• Agent generates arc42 chapters as separate </a:t>
            </a:r>
            <a:r>
              <a:rPr sz="2000">
                <a:solidFill>
                  <a:srgbClr val="404040"/>
                </a:solidFill>
                <a:latin typeface="Consolas"/>
              </a:rPr>
              <a:t>.md</a:t>
            </a:r>
            <a:r>
              <a:rPr sz="2000">
                <a:solidFill>
                  <a:srgbClr val="404040"/>
                </a:solidFill>
              </a:rPr>
              <a:t> files</a:t>
            </a:r>
          </a:p>
          <a:p>
            <a:pPr>
              <a:spcAft>
                <a:spcPts val="1200"/>
              </a:spcAft>
            </a:pPr>
            <a:r>
              <a:rPr sz="2000">
                <a:solidFill>
                  <a:srgbClr val="404040"/>
                </a:solidFill>
              </a:rPr>
              <a:t>• Agent produces PlantUML C4 diagrams</a:t>
            </a:r>
          </a:p>
          <a:p>
            <a:pPr>
              <a:spcAft>
                <a:spcPts val="1200"/>
              </a:spcAft>
            </a:pPr>
            <a:r>
              <a:rPr sz="2000">
                <a:solidFill>
                  <a:srgbClr val="404040"/>
                </a:solidFill>
              </a:rPr>
              <a:t>• Agent works chapter by chapter (waits for approval)</a:t>
            </a:r>
          </a:p>
          <a:p>
            <a:pPr>
              <a:spcAft>
                <a:spcPts val="1200"/>
              </a:spcAft>
            </a:pPr>
            <a:r>
              <a:rPr sz="2000">
                <a:solidFill>
                  <a:srgbClr val="404040"/>
                </a:solidFill>
              </a:rPr>
              <a:t>• Use it to design your kata architecture (all 12 chapters)</a:t>
            </a:r>
          </a:p>
          <a:p>
            <a:pPr>
              <a:spcAft>
                <a:spcPts val="1200"/>
              </a:spcAft>
            </a:pPr>
            <a:r>
              <a:rPr sz="2000">
                <a:solidFill>
                  <a:srgbClr val="404040"/>
                </a:solidFill>
              </a:rPr>
              <a:t>• Commit, PR via Git agent, add instructor as reviewer</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914400" y="1371600"/>
            <a:ext cx="3657600" cy="1828800"/>
          </a:xfrm>
          <a:prstGeom prst="rect">
            <a:avLst/>
          </a:prstGeom>
          <a:noFill/>
        </p:spPr>
        <p:txBody>
          <a:bodyPr wrap="none">
            <a:spAutoFit/>
          </a:bodyPr>
          <a:lstStyle/>
          <a:p>
            <a:pPr algn="ctr">
              <a:defRPr sz="12000" b="1">
                <a:solidFill>
                  <a:srgbClr val="FF7F00"/>
                </a:solidFill>
              </a:defRPr>
            </a:pPr>
            <a:r>
              <a:t>🎯</a:t>
            </a:r>
          </a:p>
        </p:txBody>
      </p:sp>
      <p:sp>
        <p:nvSpPr>
          <p:cNvPr id="3" name="TextBox 2"/>
          <p:cNvSpPr txBox="1"/>
          <p:nvPr/>
        </p:nvSpPr>
        <p:spPr>
          <a:xfrm>
            <a:off x="5029200" y="1828800"/>
            <a:ext cx="6248095" cy="914400"/>
          </a:xfrm>
          <a:prstGeom prst="rect">
            <a:avLst/>
          </a:prstGeom>
          <a:noFill/>
        </p:spPr>
        <p:txBody>
          <a:bodyPr wrap="none">
            <a:spAutoFit/>
          </a:bodyPr>
          <a:lstStyle/>
          <a:p>
            <a:pPr>
              <a:defRPr sz="3600" b="1">
                <a:solidFill>
                  <a:srgbClr val="1F3864"/>
                </a:solidFill>
              </a:defRPr>
            </a:pPr>
            <a:r>
              <a:t>Key Takeaway</a:t>
            </a:r>
          </a:p>
        </p:txBody>
      </p:sp>
      <p:sp>
        <p:nvSpPr>
          <p:cNvPr id="4" name="TextBox 3"/>
          <p:cNvSpPr txBox="1"/>
          <p:nvPr/>
        </p:nvSpPr>
        <p:spPr>
          <a:xfrm>
            <a:off x="5029200" y="2926080"/>
            <a:ext cx="6248095" cy="3200400"/>
          </a:xfrm>
          <a:prstGeom prst="rect">
            <a:avLst/>
          </a:prstGeom>
          <a:noFill/>
        </p:spPr>
        <p:txBody>
          <a:bodyPr wrap="square">
            <a:spAutoFit/>
          </a:bodyPr>
          <a:lstStyle/>
          <a:p>
            <a:r>
              <a:rPr sz="1800">
                <a:solidFill>
                  <a:srgbClr val="404040"/>
                </a:solidFill>
              </a:rPr>
              <a:t>Architecture = decisions that are expensive to change later.
Document them with arc42. Visualize them with C4. Version them with Git.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