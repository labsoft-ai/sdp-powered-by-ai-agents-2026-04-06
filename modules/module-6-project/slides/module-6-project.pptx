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capstone module. Everything from Modules 1–5 comes together. You complete your kata end-to-end using all AI agents, with full TDD discipline, CI/CD pipelines, and professional documentation.</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not a new concept module — it's pure execution. You already have all the tools. Now use them to deliver a complete, professional project.</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module gave you one agent. Now you orchestrate all of them together. The git agent creates issues and PRs. The TDD agent implements stories. The CI/CD pipeline validates every push.</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you start implementing, your INFRA stories need to match your actual deployment target. The course exercises originally referenced AWS Lambda, but your katas use localhost Docker. Fix this first or your TDD agent will generate wrong infrastructure tests.</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key deliverable is the commit history. I need to see incremental GREEN commits in your CI/CD pipeline. Not one giant commit at the end — that's not TDD. Each scenario gets its own RED-GREEN-REFACTOR cycle and its own commit.</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Starter files are provided — you don't need to write Sphinx config from scratch. Copy, customize, build. The workflow deploys automatically on every push to main that touches docs.</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README is the first thing anyone sees. Make it professional. Include build instructions that actually work. Link to your live documentation site.</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biggest chunk is "kata works" — 15 points. If I can clone your repo, run docker build and docker run, and the kata works, that's 15 points. TDD discipline is the second biggest — I look at your CI/CD history for incremental GREEN commits.</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Monday and Wednesday are open consultation days — come if you're stuck. Friday is presentations. Be ready to demo your kata and show your CI/CD pipeline.</a:t>
            </a:r>
          </a:p>
          <a:p/>
          <a:p>
            <a:r>
              <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3864"/>
        </a:solidFill>
        <a:effectLst/>
      </p:bgPr>
    </p:bg>
    <p:spTree>
      <p:nvGrpSpPr>
        <p:cNvPr id="1" name=""/>
        <p:cNvGrpSpPr/>
        <p:nvPr/>
      </p:nvGrpSpPr>
      <p:grpSpPr/>
      <p:sp>
        <p:nvSpPr>
          <p:cNvPr id="2" name="TextBox 1"/>
          <p:cNvSpPr txBox="1"/>
          <p:nvPr/>
        </p:nvSpPr>
        <p:spPr>
          <a:xfrm>
            <a:off x="914400" y="2286000"/>
            <a:ext cx="10362895" cy="1371600"/>
          </a:xfrm>
          <a:prstGeom prst="rect">
            <a:avLst/>
          </a:prstGeom>
          <a:noFill/>
        </p:spPr>
        <p:txBody>
          <a:bodyPr wrap="none">
            <a:spAutoFit/>
          </a:bodyPr>
          <a:lstStyle/>
          <a:p>
            <a:pPr algn="ctr">
              <a:defRPr sz="5400" b="1">
                <a:solidFill>
                  <a:srgbClr val="FFFFFF"/>
                </a:solidFill>
              </a:defRPr>
            </a:pPr>
            <a:r>
              <a:t>Module 6: Final Project</a:t>
            </a:r>
          </a:p>
        </p:txBody>
      </p:sp>
      <p:sp>
        <p:nvSpPr>
          <p:cNvPr id="3" name="TextBox 2"/>
          <p:cNvSpPr txBox="1"/>
          <p:nvPr/>
        </p:nvSpPr>
        <p:spPr>
          <a:xfrm>
            <a:off x="914400" y="4114800"/>
            <a:ext cx="10362895" cy="914400"/>
          </a:xfrm>
          <a:prstGeom prst="rect">
            <a:avLst/>
          </a:prstGeom>
          <a:noFill/>
        </p:spPr>
        <p:txBody>
          <a:bodyPr wrap="none">
            <a:spAutoFit/>
          </a:bodyPr>
          <a:lstStyle/>
          <a:p>
            <a:pPr algn="ctr">
              <a:defRPr sz="2400">
                <a:solidFill>
                  <a:srgbClr val="4F81BD"/>
                </a:solidFill>
              </a:defRPr>
            </a:pPr>
            <a:r>
              <a:t>Software Development Processes Powered by AI Agents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tIns="182880"/>
          <a:lstStyle/>
          <a:p>
            <a:pPr algn="l">
              <a:defRPr sz="3600" b="1">
                <a:solidFill>
                  <a:srgbClr val="FFFFFF"/>
                </a:solidFill>
              </a:defRPr>
            </a:pPr>
            <a:r>
              <a:t>What You'll Deliver</a:t>
            </a:r>
          </a:p>
        </p:txBody>
      </p:sp>
      <p:sp>
        <p:nvSpPr>
          <p:cNvPr id="3" name="TextBox 2"/>
          <p:cNvSpPr txBox="1"/>
          <p:nvPr/>
        </p:nvSpPr>
        <p:spPr>
          <a:xfrm>
            <a:off x="914400" y="1828800"/>
            <a:ext cx="10362895" cy="4572000"/>
          </a:xfrm>
          <a:prstGeom prst="rect">
            <a:avLst/>
          </a:prstGeom>
          <a:noFill/>
        </p:spPr>
        <p:txBody>
          <a:bodyPr wrap="square">
            <a:spAutoFit/>
          </a:bodyPr>
          <a:lstStyle/>
          <a:p>
            <a:pPr>
              <a:spcAft>
                <a:spcPts val="1200"/>
              </a:spcAft>
            </a:pPr>
            <a:r>
              <a:rPr sz="2000">
                <a:solidFill>
                  <a:srgbClr val="404040"/>
                </a:solidFill>
              </a:rPr>
              <a:t>• A fully functional kata: </a:t>
            </a:r>
            <a:r>
              <a:rPr sz="2000">
                <a:solidFill>
                  <a:srgbClr val="404040"/>
                </a:solidFill>
                <a:latin typeface="Consolas"/>
              </a:rPr>
              <a:t>docker build &amp;&amp; docker run</a:t>
            </a:r>
          </a:p>
          <a:p>
            <a:pPr>
              <a:spcAft>
                <a:spcPts val="1200"/>
              </a:spcAft>
            </a:pPr>
            <a:r>
              <a:rPr sz="2000">
                <a:solidFill>
                  <a:srgbClr val="404040"/>
                </a:solidFill>
              </a:rPr>
              <a:t>• All user stories implemented with TDD discipline</a:t>
            </a:r>
          </a:p>
          <a:p>
            <a:pPr>
              <a:spcAft>
                <a:spcPts val="1200"/>
              </a:spcAft>
            </a:pPr>
            <a:r>
              <a:rPr sz="2000">
                <a:solidFill>
                  <a:srgbClr val="404040"/>
                </a:solidFill>
              </a:rPr>
              <a:t>• CI/CD pipeline showing GREEN commits</a:t>
            </a:r>
          </a:p>
          <a:p>
            <a:pPr>
              <a:spcAft>
                <a:spcPts val="1200"/>
              </a:spcAft>
            </a:pPr>
            <a:r>
              <a:rPr sz="2000">
                <a:solidFill>
                  <a:srgbClr val="404040"/>
                </a:solidFill>
              </a:rPr>
              <a:t>• Sphinx documentation site on GitHub Pages</a:t>
            </a:r>
          </a:p>
          <a:p>
            <a:pPr>
              <a:spcAft>
                <a:spcPts val="1200"/>
              </a:spcAft>
            </a:pPr>
            <a:r>
              <a:rPr sz="2000">
                <a:solidFill>
                  <a:srgbClr val="404040"/>
                </a:solidFill>
              </a:rPr>
              <a:t>• Professional README + LICENSE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tIns="182880"/>
          <a:lstStyle/>
          <a:p>
            <a:pPr algn="l">
              <a:defRPr sz="3600" b="1">
                <a:solidFill>
                  <a:srgbClr val="FFFFFF"/>
                </a:solidFill>
              </a:defRPr>
            </a:pPr>
            <a:r>
              <a:t>The Full Picture</a:t>
            </a:r>
          </a:p>
        </p:txBody>
      </p:sp>
      <p:sp>
        <p:nvSpPr>
          <p:cNvPr id="3" name="TextBox 2"/>
          <p:cNvSpPr txBox="1"/>
          <p:nvPr/>
        </p:nvSpPr>
        <p:spPr>
          <a:xfrm>
            <a:off x="914400" y="1828800"/>
            <a:ext cx="10362895" cy="4572000"/>
          </a:xfrm>
          <a:prstGeom prst="rect">
            <a:avLst/>
          </a:prstGeom>
          <a:noFill/>
        </p:spPr>
        <p:txBody>
          <a:bodyPr wrap="square">
            <a:spAutoFit/>
          </a:bodyPr>
          <a:lstStyle/>
          <a:p>
            <a:pPr>
              <a:spcAft>
                <a:spcPts val="1200"/>
              </a:spcAft>
            </a:pPr>
            <a:r>
              <a:rPr sz="2000">
                <a:solidFill>
                  <a:srgbClr val="404040"/>
                </a:solidFill>
              </a:rPr>
              <a:t>• Module 1: Git Agent → commits, branches, PRs</a:t>
            </a:r>
          </a:p>
          <a:p>
            <a:pPr>
              <a:spcAft>
                <a:spcPts val="1200"/>
              </a:spcAft>
            </a:pPr>
            <a:r>
              <a:rPr sz="2000">
                <a:solidFill>
                  <a:srgbClr val="404040"/>
                </a:solidFill>
              </a:rPr>
              <a:t>• Module 2: Architecture Agent → arc42, C4 diagrams</a:t>
            </a:r>
          </a:p>
          <a:p>
            <a:pPr>
              <a:spcAft>
                <a:spcPts val="1200"/>
              </a:spcAft>
            </a:pPr>
            <a:r>
              <a:rPr sz="2000">
                <a:solidFill>
                  <a:srgbClr val="404040"/>
                </a:solidFill>
              </a:rPr>
              <a:t>• Module 3: Requirements Agent → user stories, Pareto</a:t>
            </a:r>
          </a:p>
          <a:p>
            <a:pPr>
              <a:spcAft>
                <a:spcPts val="1200"/>
              </a:spcAft>
            </a:pPr>
            <a:r>
              <a:rPr sz="2000">
                <a:solidFill>
                  <a:srgbClr val="404040"/>
                </a:solidFill>
              </a:rPr>
              <a:t>• Module 4: CI/CD Agent → Docker, pipelines</a:t>
            </a:r>
          </a:p>
          <a:p>
            <a:pPr>
              <a:spcAft>
                <a:spcPts val="1200"/>
              </a:spcAft>
            </a:pPr>
            <a:r>
              <a:rPr sz="2000">
                <a:solidFill>
                  <a:srgbClr val="404040"/>
                </a:solidFill>
              </a:rPr>
              <a:t>• Module 5: TDD/BDD Agent → RED-GREEN-REFACTOR</a:t>
            </a:r>
          </a:p>
          <a:p>
            <a:pPr>
              <a:spcAft>
                <a:spcPts val="1200"/>
              </a:spcAft>
            </a:pPr>
            <a:r>
              <a:rPr sz="2000">
                <a:solidFill>
                  <a:srgbClr val="404040"/>
                </a:solidFill>
              </a:rPr>
              <a:t>• </a:t>
            </a:r>
            <a:r>
              <a:rPr b="1" sz="2000">
                <a:solidFill>
                  <a:srgbClr val="404040"/>
                </a:solidFill>
              </a:rPr>
              <a:t>Module 6: All agents → complete project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tIns="182880"/>
          <a:lstStyle/>
          <a:p>
            <a:pPr algn="l">
              <a:defRPr sz="3600" b="1">
                <a:solidFill>
                  <a:srgbClr val="FFFFFF"/>
                </a:solidFill>
              </a:defRPr>
            </a:pPr>
            <a:r>
              <a:t>Step 1 — Fix INFRA Stories</a:t>
            </a:r>
          </a:p>
        </p:txBody>
      </p:sp>
      <p:sp>
        <p:nvSpPr>
          <p:cNvPr id="3" name="TextBox 2"/>
          <p:cNvSpPr txBox="1"/>
          <p:nvPr/>
        </p:nvSpPr>
        <p:spPr>
          <a:xfrm>
            <a:off x="914400" y="1828800"/>
            <a:ext cx="10362895" cy="4572000"/>
          </a:xfrm>
          <a:prstGeom prst="rect">
            <a:avLst/>
          </a:prstGeom>
          <a:noFill/>
        </p:spPr>
        <p:txBody>
          <a:bodyPr wrap="square">
            <a:spAutoFit/>
          </a:bodyPr>
          <a:lstStyle/>
          <a:p>
            <a:pPr>
              <a:spcAft>
                <a:spcPts val="1200"/>
              </a:spcAft>
            </a:pPr>
            <a:r>
              <a:rPr sz="2000">
                <a:solidFill>
                  <a:srgbClr val="404040"/>
                </a:solidFill>
              </a:rPr>
              <a:t>• Update </a:t>
            </a:r>
            <a:r>
              <a:rPr sz="2000">
                <a:solidFill>
                  <a:srgbClr val="404040"/>
                </a:solidFill>
                <a:latin typeface="Consolas"/>
              </a:rPr>
              <a:t>requirements-agent</a:t>
            </a:r>
            <a:r>
              <a:rPr sz="2000">
                <a:solidFill>
                  <a:srgbClr val="404040"/>
                </a:solidFill>
              </a:rPr>
              <a:t> to enforce Docker deployment</a:t>
            </a:r>
          </a:p>
          <a:p>
            <a:pPr>
              <a:spcAft>
                <a:spcPts val="1200"/>
              </a:spcAft>
            </a:pPr>
            <a:r>
              <a:rPr sz="2000">
                <a:solidFill>
                  <a:srgbClr val="404040"/>
                </a:solidFill>
              </a:rPr>
              <a:t>• Regenerate all INFRA scenarios</a:t>
            </a:r>
          </a:p>
          <a:p>
            <a:pPr>
              <a:spcAft>
                <a:spcPts val="1200"/>
              </a:spcAft>
            </a:pPr>
            <a:r>
              <a:rPr sz="2000">
                <a:solidFill>
                  <a:srgbClr val="404040"/>
                </a:solidFill>
              </a:rPr>
              <a:t>• No Lambda/DynamoDB — use Docker containers</a:t>
            </a:r>
          </a:p>
          <a:p>
            <a:pPr>
              <a:spcAft>
                <a:spcPts val="1200"/>
              </a:spcAft>
            </a:pPr>
            <a:r>
              <a:rPr sz="2000">
                <a:solidFill>
                  <a:srgbClr val="404040"/>
                </a:solidFill>
              </a:rPr>
              <a:t>• INFRA stories must cover: deployment, data store, events, monitoring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tIns="182880"/>
          <a:lstStyle/>
          <a:p>
            <a:pPr algn="l">
              <a:defRPr sz="3600" b="1">
                <a:solidFill>
                  <a:srgbClr val="FFFFFF"/>
                </a:solidFill>
              </a:defRPr>
            </a:pPr>
            <a:r>
              <a:t>Step 2 — Implement with TDD</a:t>
            </a:r>
          </a:p>
        </p:txBody>
      </p:sp>
      <p:sp>
        <p:nvSpPr>
          <p:cNvPr id="3" name="TextBox 2"/>
          <p:cNvSpPr txBox="1"/>
          <p:nvPr/>
        </p:nvSpPr>
        <p:spPr>
          <a:xfrm>
            <a:off x="914400" y="1828800"/>
            <a:ext cx="10362895" cy="4572000"/>
          </a:xfrm>
          <a:prstGeom prst="rect">
            <a:avLst/>
          </a:prstGeom>
          <a:noFill/>
        </p:spPr>
        <p:txBody>
          <a:bodyPr wrap="square">
            <a:spAutoFit/>
          </a:bodyPr>
          <a:lstStyle/>
          <a:p>
            <a:pPr>
              <a:spcAft>
                <a:spcPts val="1200"/>
              </a:spcAft>
            </a:pPr>
            <a:r>
              <a:rPr sz="2000">
                <a:solidFill>
                  <a:srgbClr val="404040"/>
                </a:solidFill>
              </a:rPr>
              <a:t>• For each story: INFRA → BE → FE → E2E</a:t>
            </a:r>
          </a:p>
          <a:p>
            <a:pPr>
              <a:spcAft>
                <a:spcPts val="1200"/>
              </a:spcAft>
            </a:pPr>
            <a:r>
              <a:rPr sz="2000">
                <a:solidFill>
                  <a:srgbClr val="404040"/>
                </a:solidFill>
              </a:rPr>
              <a:t>• RED → GREEN → REFACTOR for each scenario</a:t>
            </a:r>
          </a:p>
          <a:p>
            <a:pPr>
              <a:spcAft>
                <a:spcPts val="1200"/>
              </a:spcAft>
            </a:pPr>
            <a:r>
              <a:rPr sz="2000">
                <a:solidFill>
                  <a:srgbClr val="404040"/>
                </a:solidFill>
              </a:rPr>
              <a:t>• </a:t>
            </a:r>
            <a:r>
              <a:rPr b="1" sz="2000">
                <a:solidFill>
                  <a:srgbClr val="404040"/>
                </a:solidFill>
              </a:rPr>
              <a:t>Commit on every GREEN</a:t>
            </a:r>
            <a:r>
              <a:rPr sz="2000">
                <a:solidFill>
                  <a:srgbClr val="404040"/>
                </a:solidFill>
              </a:rPr>
              <a:t> — this is your evidence</a:t>
            </a:r>
          </a:p>
          <a:p>
            <a:pPr>
              <a:spcAft>
                <a:spcPts val="1200"/>
              </a:spcAft>
            </a:pPr>
            <a:r>
              <a:rPr sz="2000">
                <a:solidFill>
                  <a:srgbClr val="404040"/>
                </a:solidFill>
              </a:rPr>
              <a:t>• Each commit references Story/Scenario ID</a:t>
            </a:r>
          </a:p>
          <a:p>
            <a:pPr>
              <a:spcAft>
                <a:spcPts val="1200"/>
              </a:spcAft>
            </a:pPr>
            <a:r>
              <a:rPr sz="2000">
                <a:solidFill>
                  <a:srgbClr val="404040"/>
                </a:solidFill>
              </a:rPr>
              <a:t>• CI/CD pipeline must trigger and pass on every push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tIns="182880"/>
          <a:lstStyle/>
          <a:p>
            <a:pPr algn="l">
              <a:defRPr sz="3600" b="1">
                <a:solidFill>
                  <a:srgbClr val="FFFFFF"/>
                </a:solidFill>
              </a:defRPr>
            </a:pPr>
            <a:r>
              <a:t>Step 3 — Documentation</a:t>
            </a:r>
          </a:p>
        </p:txBody>
      </p:sp>
      <p:sp>
        <p:nvSpPr>
          <p:cNvPr id="3" name="TextBox 2"/>
          <p:cNvSpPr txBox="1"/>
          <p:nvPr/>
        </p:nvSpPr>
        <p:spPr>
          <a:xfrm>
            <a:off x="914400" y="1828800"/>
            <a:ext cx="10362895" cy="4572000"/>
          </a:xfrm>
          <a:prstGeom prst="rect">
            <a:avLst/>
          </a:prstGeom>
          <a:noFill/>
        </p:spPr>
        <p:txBody>
          <a:bodyPr wrap="square">
            <a:spAutoFit/>
          </a:bodyPr>
          <a:lstStyle/>
          <a:p>
            <a:pPr>
              <a:spcAft>
                <a:spcPts val="1200"/>
              </a:spcAft>
            </a:pPr>
            <a:r>
              <a:rPr sz="2000">
                <a:solidFill>
                  <a:srgbClr val="404040"/>
                </a:solidFill>
              </a:rPr>
              <a:t>• Move </a:t>
            </a:r>
            <a:r>
              <a:rPr sz="2000">
                <a:solidFill>
                  <a:srgbClr val="404040"/>
                </a:solidFill>
                <a:latin typeface="Consolas"/>
              </a:rPr>
              <a:t>architecture/</a:t>
            </a:r>
            <a:r>
              <a:rPr sz="2000">
                <a:solidFill>
                  <a:srgbClr val="404040"/>
                </a:solidFill>
              </a:rPr>
              <a:t> under </a:t>
            </a:r>
            <a:r>
              <a:rPr sz="2000">
                <a:solidFill>
                  <a:srgbClr val="404040"/>
                </a:solidFill>
                <a:latin typeface="Consolas"/>
              </a:rPr>
              <a:t>docs/</a:t>
            </a:r>
          </a:p>
          <a:p>
            <a:pPr>
              <a:spcAft>
                <a:spcPts val="1200"/>
              </a:spcAft>
            </a:pPr>
            <a:r>
              <a:rPr sz="2000">
                <a:solidFill>
                  <a:srgbClr val="404040"/>
                </a:solidFill>
              </a:rPr>
              <a:t>• Copy Sphinx starter files: </a:t>
            </a:r>
            <a:r>
              <a:rPr sz="2000">
                <a:solidFill>
                  <a:srgbClr val="404040"/>
                </a:solidFill>
                <a:latin typeface="Consolas"/>
              </a:rPr>
              <a:t>cp -r modules/module-6-project/starter/* docs/</a:t>
            </a:r>
          </a:p>
          <a:p>
            <a:pPr>
              <a:spcAft>
                <a:spcPts val="1200"/>
              </a:spcAft>
            </a:pPr>
            <a:r>
              <a:rPr sz="2000">
                <a:solidFill>
                  <a:srgbClr val="404040"/>
                </a:solidFill>
              </a:rPr>
              <a:t>• Edit </a:t>
            </a:r>
            <a:r>
              <a:rPr sz="2000">
                <a:solidFill>
                  <a:srgbClr val="404040"/>
                </a:solidFill>
                <a:latin typeface="Consolas"/>
              </a:rPr>
              <a:t>conf.py</a:t>
            </a:r>
            <a:r>
              <a:rPr sz="2000">
                <a:solidFill>
                  <a:srgbClr val="404040"/>
                </a:solidFill>
              </a:rPr>
              <a:t> and </a:t>
            </a:r>
            <a:r>
              <a:rPr sz="2000">
                <a:solidFill>
                  <a:srgbClr val="404040"/>
                </a:solidFill>
                <a:latin typeface="Consolas"/>
              </a:rPr>
              <a:t>index.rst</a:t>
            </a:r>
          </a:p>
          <a:p>
            <a:pPr>
              <a:spcAft>
                <a:spcPts val="1200"/>
              </a:spcAft>
            </a:pPr>
            <a:r>
              <a:rPr sz="2000">
                <a:solidFill>
                  <a:srgbClr val="404040"/>
                </a:solidFill>
              </a:rPr>
              <a:t>• Build locally: </a:t>
            </a:r>
            <a:r>
              <a:rPr sz="2000">
                <a:solidFill>
                  <a:srgbClr val="404040"/>
                </a:solidFill>
                <a:latin typeface="Consolas"/>
              </a:rPr>
              <a:t>cd docs &amp;&amp; make html</a:t>
            </a:r>
          </a:p>
          <a:p>
            <a:pPr>
              <a:spcAft>
                <a:spcPts val="1200"/>
              </a:spcAft>
            </a:pPr>
            <a:r>
              <a:rPr sz="2000">
                <a:solidFill>
                  <a:srgbClr val="404040"/>
                </a:solidFill>
              </a:rPr>
              <a:t>• Copy </a:t>
            </a:r>
            <a:r>
              <a:rPr sz="2000">
                <a:solidFill>
                  <a:srgbClr val="404040"/>
                </a:solidFill>
                <a:latin typeface="Consolas"/>
              </a:rPr>
              <a:t>docs-deploy.yml</a:t>
            </a:r>
            <a:r>
              <a:rPr sz="2000">
                <a:solidFill>
                  <a:srgbClr val="404040"/>
                </a:solidFill>
              </a:rPr>
              <a:t> to </a:t>
            </a:r>
            <a:r>
              <a:rPr sz="2000">
                <a:solidFill>
                  <a:srgbClr val="404040"/>
                </a:solidFill>
                <a:latin typeface="Consolas"/>
              </a:rPr>
              <a:t>.github/workflows/</a:t>
            </a:r>
          </a:p>
          <a:p>
            <a:pPr>
              <a:spcAft>
                <a:spcPts val="1200"/>
              </a:spcAft>
            </a:pPr>
            <a:r>
              <a:rPr sz="2000">
                <a:solidFill>
                  <a:srgbClr val="404040"/>
                </a:solidFill>
              </a:rPr>
              <a:t>• Enable GitHub Pages: </a:t>
            </a:r>
            <a:r>
              <a:rPr sz="2000">
                <a:solidFill>
                  <a:srgbClr val="404040"/>
                </a:solidFill>
                <a:latin typeface="Consolas"/>
              </a:rPr>
              <a:t>gh api repos/{owner}/{repo}/pages -X PUT -f build_type=workflow</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tIns="182880"/>
          <a:lstStyle/>
          <a:p>
            <a:pPr algn="l">
              <a:defRPr sz="3600" b="1">
                <a:solidFill>
                  <a:srgbClr val="FFFFFF"/>
                </a:solidFill>
              </a:defRPr>
            </a:pPr>
            <a:r>
              <a:t>Step 4 — Polish</a:t>
            </a:r>
          </a:p>
        </p:txBody>
      </p:sp>
      <p:sp>
        <p:nvSpPr>
          <p:cNvPr id="3" name="TextBox 2"/>
          <p:cNvSpPr txBox="1"/>
          <p:nvPr/>
        </p:nvSpPr>
        <p:spPr>
          <a:xfrm>
            <a:off x="914400" y="1828800"/>
            <a:ext cx="10362895" cy="4572000"/>
          </a:xfrm>
          <a:prstGeom prst="rect">
            <a:avLst/>
          </a:prstGeom>
          <a:noFill/>
        </p:spPr>
        <p:txBody>
          <a:bodyPr wrap="square">
            <a:spAutoFit/>
          </a:bodyPr>
          <a:lstStyle/>
          <a:p>
            <a:pPr>
              <a:spcAft>
                <a:spcPts val="1200"/>
              </a:spcAft>
            </a:pPr>
            <a:r>
              <a:rPr sz="2000">
                <a:solidFill>
                  <a:srgbClr val="404040"/>
                </a:solidFill>
              </a:rPr>
              <a:t>• Professional </a:t>
            </a:r>
            <a:r>
              <a:rPr sz="2000">
                <a:solidFill>
                  <a:srgbClr val="404040"/>
                </a:solidFill>
                <a:latin typeface="Consolas"/>
              </a:rPr>
              <a:t>README.md</a:t>
            </a:r>
            <a:r>
              <a:rPr sz="2000">
                <a:solidFill>
                  <a:srgbClr val="404040"/>
                </a:solidFill>
              </a:rPr>
              <a:t>:</a:t>
            </a:r>
          </a:p>
          <a:p>
            <a:pPr>
              <a:spcAft>
                <a:spcPts val="1200"/>
              </a:spcAft>
            </a:pPr>
            <a:r>
              <a:rPr sz="2000">
                <a:solidFill>
                  <a:srgbClr val="404040"/>
                </a:solidFill>
              </a:rPr>
              <a:t>• What the kata solves</a:t>
            </a:r>
          </a:p>
          <a:p>
            <a:pPr>
              <a:spcAft>
                <a:spcPts val="1200"/>
              </a:spcAft>
            </a:pPr>
            <a:r>
              <a:rPr sz="2000">
                <a:solidFill>
                  <a:srgbClr val="404040"/>
                </a:solidFill>
              </a:rPr>
              <a:t>• How to build and run (</a:t>
            </a:r>
            <a:r>
              <a:rPr sz="2000">
                <a:solidFill>
                  <a:srgbClr val="404040"/>
                </a:solidFill>
                <a:latin typeface="Consolas"/>
              </a:rPr>
              <a:t>docker build &amp;&amp; docker run</a:t>
            </a:r>
            <a:r>
              <a:rPr sz="2000">
                <a:solidFill>
                  <a:srgbClr val="404040"/>
                </a:solidFill>
              </a:rPr>
              <a:t>)</a:t>
            </a:r>
          </a:p>
          <a:p>
            <a:pPr>
              <a:spcAft>
                <a:spcPts val="1200"/>
              </a:spcAft>
            </a:pPr>
            <a:r>
              <a:rPr sz="2000">
                <a:solidFill>
                  <a:srgbClr val="404040"/>
                </a:solidFill>
              </a:rPr>
              <a:t>• How to run tests</a:t>
            </a:r>
          </a:p>
          <a:p>
            <a:pPr>
              <a:spcAft>
                <a:spcPts val="1200"/>
              </a:spcAft>
            </a:pPr>
            <a:r>
              <a:rPr sz="2000">
                <a:solidFill>
                  <a:srgbClr val="404040"/>
                </a:solidFill>
              </a:rPr>
              <a:t>• Link to Sphinx docs site</a:t>
            </a:r>
          </a:p>
          <a:p>
            <a:pPr>
              <a:spcAft>
                <a:spcPts val="1200"/>
              </a:spcAft>
            </a:pPr>
            <a:r>
              <a:rPr sz="2000">
                <a:solidFill>
                  <a:srgbClr val="404040"/>
                </a:solidFill>
              </a:rPr>
              <a:t>• Author info</a:t>
            </a:r>
          </a:p>
          <a:p>
            <a:pPr>
              <a:spcAft>
                <a:spcPts val="1200"/>
              </a:spcAft>
            </a:pPr>
            <a:r>
              <a:rPr sz="2000">
                <a:solidFill>
                  <a:srgbClr val="404040"/>
                </a:solidFill>
              </a:rPr>
              <a:t>• Add </a:t>
            </a:r>
            <a:r>
              <a:rPr sz="2000">
                <a:solidFill>
                  <a:srgbClr val="404040"/>
                </a:solidFill>
                <a:latin typeface="Consolas"/>
              </a:rPr>
              <a:t>LICENSE</a:t>
            </a:r>
            <a:r>
              <a:rPr sz="2000">
                <a:solidFill>
                  <a:srgbClr val="404040"/>
                </a:solidFill>
              </a:rPr>
              <a:t> file (MIT recommended)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tIns="182880"/>
          <a:lstStyle/>
          <a:p>
            <a:pPr algn="l">
              <a:defRPr sz="3600" b="1">
                <a:solidFill>
                  <a:srgbClr val="FFFFFF"/>
                </a:solidFill>
              </a:defRPr>
            </a:pPr>
            <a:r>
              <a:t>Grading (45 pts)</a:t>
            </a:r>
          </a:p>
        </p:txBody>
      </p:sp>
      <p:sp>
        <p:nvSpPr>
          <p:cNvPr id="3" name="TextBox 2"/>
          <p:cNvSpPr txBox="1"/>
          <p:nvPr/>
        </p:nvSpPr>
        <p:spPr>
          <a:xfrm>
            <a:off x="914400" y="1828800"/>
            <a:ext cx="10362895" cy="4572000"/>
          </a:xfrm>
          <a:prstGeom prst="rect">
            <a:avLst/>
          </a:prstGeom>
          <a:noFill/>
        </p:spPr>
        <p:txBody>
          <a:bodyPr wrap="square">
            <a:spAutoFit/>
          </a:bodyPr>
          <a:lstStyle/>
          <a:p>
            <a:pPr>
              <a:spcAft>
                <a:spcPts val="1200"/>
              </a:spcAft>
            </a:pPr>
            <a:r>
              <a:rPr sz="2000">
                <a:solidFill>
                  <a:srgbClr val="404040"/>
                </a:solidFill>
              </a:rPr>
              <a:t>| Criterion | Points |</a:t>
            </a:r>
          </a:p>
          <a:p>
            <a:pPr>
              <a:spcAft>
                <a:spcPts val="1200"/>
              </a:spcAft>
            </a:pPr>
            <a:r>
              <a:rPr sz="2000">
                <a:solidFill>
                  <a:srgbClr val="404040"/>
                </a:solidFill>
              </a:rPr>
              <a:t>|-----------|--------|</a:t>
            </a:r>
          </a:p>
          <a:p>
            <a:pPr>
              <a:spcAft>
                <a:spcPts val="1200"/>
              </a:spcAft>
            </a:pPr>
            <a:r>
              <a:rPr sz="2000">
                <a:solidFill>
                  <a:srgbClr val="404040"/>
                </a:solidFill>
              </a:rPr>
              <a:t>| Kata is functional (</a:t>
            </a:r>
            <a:r>
              <a:rPr sz="2000">
                <a:solidFill>
                  <a:srgbClr val="404040"/>
                </a:solidFill>
                <a:latin typeface="Consolas"/>
              </a:rPr>
              <a:t>docker build &amp;&amp; docker run</a:t>
            </a:r>
            <a:r>
              <a:rPr sz="2000">
                <a:solidFill>
                  <a:srgbClr val="404040"/>
                </a:solidFill>
              </a:rPr>
              <a:t>) | 15 |</a:t>
            </a:r>
          </a:p>
          <a:p>
            <a:pPr>
              <a:spcAft>
                <a:spcPts val="1200"/>
              </a:spcAft>
            </a:pPr>
            <a:r>
              <a:rPr sz="2000">
                <a:solidFill>
                  <a:srgbClr val="404040"/>
                </a:solidFill>
              </a:rPr>
              <a:t>| All user stories implemented (tests GREEN) | 10 |</a:t>
            </a:r>
          </a:p>
          <a:p>
            <a:pPr>
              <a:spcAft>
                <a:spcPts val="1200"/>
              </a:spcAft>
            </a:pPr>
            <a:r>
              <a:rPr sz="2000">
                <a:solidFill>
                  <a:srgbClr val="404040"/>
                </a:solidFill>
              </a:rPr>
              <a:t>| TDD discipline visible in CI/CD history | 10 |</a:t>
            </a:r>
          </a:p>
          <a:p>
            <a:pPr>
              <a:spcAft>
                <a:spcPts val="1200"/>
              </a:spcAft>
            </a:pPr>
            <a:r>
              <a:rPr sz="2000">
                <a:solidFill>
                  <a:srgbClr val="404040"/>
                </a:solidFill>
              </a:rPr>
              <a:t>| Sphinx documentation site on GitHub Pages | 5 |</a:t>
            </a:r>
          </a:p>
          <a:p>
            <a:pPr>
              <a:spcAft>
                <a:spcPts val="1200"/>
              </a:spcAft>
            </a:pPr>
            <a:r>
              <a:rPr sz="2000">
                <a:solidFill>
                  <a:srgbClr val="404040"/>
                </a:solidFill>
              </a:rPr>
              <a:t>| Professional README + LICENSE | 5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tIns="182880"/>
          <a:lstStyle/>
          <a:p>
            <a:pPr algn="l">
              <a:defRPr sz="3600" b="1">
                <a:solidFill>
                  <a:srgbClr val="FFFFFF"/>
                </a:solidFill>
              </a:defRPr>
            </a:pPr>
            <a:r>
              <a:t>Timeline</a:t>
            </a:r>
          </a:p>
        </p:txBody>
      </p:sp>
      <p:sp>
        <p:nvSpPr>
          <p:cNvPr id="3" name="TextBox 2"/>
          <p:cNvSpPr txBox="1"/>
          <p:nvPr/>
        </p:nvSpPr>
        <p:spPr>
          <a:xfrm>
            <a:off x="914400" y="1828800"/>
            <a:ext cx="10362895" cy="4572000"/>
          </a:xfrm>
          <a:prstGeom prst="rect">
            <a:avLst/>
          </a:prstGeom>
          <a:noFill/>
        </p:spPr>
        <p:txBody>
          <a:bodyPr wrap="square">
            <a:spAutoFit/>
          </a:bodyPr>
          <a:lstStyle/>
          <a:p>
            <a:pPr>
              <a:spcAft>
                <a:spcPts val="1200"/>
              </a:spcAft>
            </a:pPr>
            <a:r>
              <a:rPr sz="2000">
                <a:solidFill>
                  <a:srgbClr val="404040"/>
                </a:solidFill>
              </a:rPr>
              <a:t>| Day | Activity |</a:t>
            </a:r>
          </a:p>
          <a:p>
            <a:pPr>
              <a:spcAft>
                <a:spcPts val="1200"/>
              </a:spcAft>
            </a:pPr>
            <a:r>
              <a:rPr sz="2000">
                <a:solidFill>
                  <a:srgbClr val="404040"/>
                </a:solidFill>
              </a:rPr>
              <a:t>|-----|----------|</a:t>
            </a:r>
          </a:p>
          <a:p>
            <a:pPr>
              <a:spcAft>
                <a:spcPts val="1200"/>
              </a:spcAft>
            </a:pPr>
            <a:r>
              <a:rPr sz="2000">
                <a:solidFill>
                  <a:srgbClr val="404040"/>
                </a:solidFill>
              </a:rPr>
              <a:t>| Mon 20.4. | Project consultation (not mandatory) |</a:t>
            </a:r>
          </a:p>
          <a:p>
            <a:pPr>
              <a:spcAft>
                <a:spcPts val="1200"/>
              </a:spcAft>
            </a:pPr>
            <a:r>
              <a:rPr sz="2000">
                <a:solidFill>
                  <a:srgbClr val="404040"/>
                </a:solidFill>
              </a:rPr>
              <a:t>| Wed 22.4. | Project consultation (not mandatory) |</a:t>
            </a:r>
          </a:p>
          <a:p>
            <a:pPr>
              <a:spcAft>
                <a:spcPts val="1200"/>
              </a:spcAft>
            </a:pPr>
            <a:r>
              <a:rPr sz="2000">
                <a:solidFill>
                  <a:srgbClr val="404040"/>
                </a:solidFill>
              </a:rPr>
              <a:t>| </a:t>
            </a:r>
            <a:r>
              <a:rPr b="1" sz="2000">
                <a:solidFill>
                  <a:srgbClr val="404040"/>
                </a:solidFill>
              </a:rPr>
              <a:t>Fri 24.4.</a:t>
            </a:r>
            <a:r>
              <a:rPr sz="2000">
                <a:solidFill>
                  <a:srgbClr val="404040"/>
                </a:solidFill>
              </a:rPr>
              <a:t> | </a:t>
            </a:r>
            <a:r>
              <a:rPr b="1" sz="2000">
                <a:solidFill>
                  <a:srgbClr val="404040"/>
                </a:solidFill>
              </a:rPr>
              <a:t>Project presentations</a:t>
            </a:r>
            <a:r>
              <a:rPr sz="2000">
                <a:solidFill>
                  <a:srgbClr val="404040"/>
                </a:solidFill>
              </a:rPr>
              <a:t>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