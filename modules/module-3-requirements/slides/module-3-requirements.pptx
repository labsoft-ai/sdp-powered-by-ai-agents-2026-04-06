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3. In Module 2 you designed the architecture — the what and how of your system. Now we define what to build first and how to verify it works.</a:t>
            </a:r>
          </a:p>
          <a:p>
            <a:r>
              <a:t>By the end of this module you'll derive user stories from architecture, write testable acceptance criteria, and build an agent that automates the whole process.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pattern as Modules 1 and 2: learn the process, then encode it as an agent.</a:t>
            </a:r>
          </a:p>
          <a:p>
            <a:r>
              <a:t>Requirements engineering is where architecture meets implementation. Without it, developers build the wrong things in the wrong order.</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why structured requirements matter, even for small projects.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happens in every team without structured requirements. Everyone has a different idea of what's important. Developers build features nobody asked for. Testers don't know what "correct" means. PMs can't track progress because there's nothing to track against.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stories with acceptance criteria solve all of these problems. The story says what to build, the acceptance criteria say how to verify it, and the priority says when to build it.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fundamental unit of requirements in agile development.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who wants it, what they want, and why they want it. The "so that" is critical — it captures the business value. Without it, you're just listing features with no justification.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 is your quality checklist for stories. If a story isn't testable, it's not a story — it's a wish. If it's not independent, you have hidden dependencies that will block your sprint.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bad example has no specificity. The second is a technical task, not a user story — users don't care about database tables. The third is too big — it's an epic, not a story.</a:t>
            </a:r>
          </a:p>
          <a:p>
            <a:r>
              <a:t>Good stories are specific, user-focused, and small enough to implement and test in isolation.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architecture document from Module 2 is the input. User stories are the output. Let's see how to make that connection.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traceability link between architecture and requirements. Your architecture identified the bounded contexts — the major areas of your system. Each one becomes a domain in your story naming convention.</a:t>
            </a:r>
          </a:p>
          <a:p>
            <a:r>
              <a:t>If your kata has a Grid context and a Rover context, those become GRID-STORY-001 and ROVER-STORY-001.</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part of a user story is not the story itself — it's the acceptance criteria. This is what makes stories testable.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format comes from Behavior-Driven Development. It maps directly to test code: GIVEN is your setup, WHEN is the action you're testing, THEN is your assertions.</a:t>
            </a:r>
          </a:p>
          <a:p>
            <a:r>
              <a:t>Every scenario you write in this format can be turned into an automated test. That's the whole point — requirements that are executable.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spec-driven development in action. You write the spec first as GIVEN-WHEN-THEN, then the test writes itself. The agent in Module 5 will actually generate these tests from your stories — but only if the stories are well-written.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user story is too big to implement directly. We need to break it down by layer.</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can't build a UI for an API that doesn't exist. You can't deploy code without infrastructure. That's why the order is always infrastructure first, then backend, then frontend, then end-to-end verification.</a:t>
            </a:r>
          </a:p>
          <a:p>
            <a:r>
              <a:t>Each layer has its own test type. INFRA stories test that resources exist. BE stories test business logic. FE stories test UI components. The original story tests the full flow.</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user story becomes 8 sub-stories. Each is independently testable, independently implementable, and has a clear owner. This is how you turn a vague requirement into actionable work items.</a:t>
            </a:r>
          </a:p>
          <a:p>
            <a:r>
              <a:t>The INFRA stories are mandatory — every story needs at minimum: Lambda deployment, data store, event handling if applicable, and monitoring.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can't build everything at once. The Pareto principle tells you what to build first.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Pareto principle applied to software requirements. Not all stories are equal. A small number of stories — usually around 20% — deliver the vast majority of user value.</a:t>
            </a:r>
          </a:p>
          <a:p>
            <a:r>
              <a:t>Your job is to identify which stories are in that critical 20% and build those first. The remaining 80% of stories are nice-to-have — they add polish but aren't essential for the MVP.</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these four questions for every story. If a story is needed for the MVP, blocks other work, delivers high value, and exercises multiple components — it's definitely in the core 20%.</a:t>
            </a:r>
          </a:p>
          <a:p>
            <a:r>
              <a:t>For your kata, the core stories are the ones that implement the main algorithm or game loop. Supporting stories are things like error messages, edge cases, and UI polish.</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story and scenario needs a unique ID so you can trace from architecture to test.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naming convention encodes the domain, the type, the parent story number, and the sub-story number. This means you can look at any test name and immediately know which story, which layer, and which scenario it tests.</a:t>
            </a:r>
          </a:p>
          <a:p>
            <a:r>
              <a:t>In Module 5, your TDD agent will use these IDs to name test functions: test_order_be_001_1_s1_given_valid_order_when_submitted_then_created.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golden thread from design to test. When a test fails, you trace it back: which scenario? Which story? Which architecture component? When architecture changes, you trace forward: which stories are affected? Which tests need updating?</a:t>
            </a:r>
          </a:p>
          <a:p>
            <a:r>
              <a:t>This traceability is what separates professional software engineering from ad-hoc coding.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automate everything we just learned. You'll build an agent that reads your architecture and produces user stories.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pattern as the architecture agent — work incrementally, wait for approval. The agent reads your Module 2 output and produces Module 3 output.</a:t>
            </a:r>
          </a:p>
          <a:p>
            <a:r>
              <a:t>The key context engineering challenge is encoding the story format, the decomposition rules, and the Pareto analysis into the agent's prompt.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bundles keep everything together. When you open a domain file, you see the original story, all its frontend stories, all its backend stories, and all its infrastructure stories. No jumping between files.</a:t>
            </a:r>
          </a:p>
          <a:p>
            <a:r>
              <a:t>The README tracks overall progress and Pareto completion percentage.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TODO list for the agent prompt. The starter template has placeholders for each of these. Fill them in based on what we covered today.</a:t>
            </a:r>
          </a:p>
          <a:p>
            <a:r>
              <a:t>The better your prompt, the better your stories. This is context engineering — controlling the agent's output by controlling its input.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workflow as Module 2. Build the agent, use it on your kata, commit the results, create a PR.</a:t>
            </a:r>
          </a:p>
          <a:p>
            <a:r>
              <a:t>The starter template has TODO sections — you need to fill in the story bundle template, Pareto analysis rules, INFRA requirements, and architecture reference rules. These are the parts that make your agent produce good stories instead of generic ones.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now have the complete chain: architecture (Module 2) tells you what to build, requirements (Module 3) tell you what to build first and how to verify it, and in Module 5 you'll use TDD to actually implement it.</a:t>
            </a:r>
          </a:p>
          <a:p>
            <a:r>
              <a:t>Module 4 covers CI/CD — automating the deployment pipeline so your code goes from commit to production automatically.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914400" y="2286000"/>
            <a:ext cx="10362895" cy="1371600"/>
          </a:xfrm>
          <a:prstGeom prst="rect">
            <a:avLst/>
          </a:prstGeom>
          <a:noFill/>
        </p:spPr>
        <p:txBody>
          <a:bodyPr wrap="none">
            <a:spAutoFit/>
          </a:bodyPr>
          <a:lstStyle/>
          <a:p>
            <a:pPr algn="ctr">
              <a:defRPr sz="5400" b="1">
                <a:solidFill>
                  <a:srgbClr val="FFFFFF"/>
                </a:solidFill>
              </a:defRPr>
            </a:pPr>
            <a:r>
              <a:t>Module 3: Software Requirements</a:t>
            </a:r>
          </a:p>
        </p:txBody>
      </p:sp>
      <p:sp>
        <p:nvSpPr>
          <p:cNvPr id="3" name="TextBox 2"/>
          <p:cNvSpPr txBox="1"/>
          <p:nvPr/>
        </p:nvSpPr>
        <p:spPr>
          <a:xfrm>
            <a:off x="914400" y="4114800"/>
            <a:ext cx="10362895" cy="914400"/>
          </a:xfrm>
          <a:prstGeom prst="rect">
            <a:avLst/>
          </a:prstGeom>
          <a:noFill/>
        </p:spPr>
        <p:txBody>
          <a:bodyPr wrap="none">
            <a:spAutoFit/>
          </a:bodyPr>
          <a:lstStyle/>
          <a:p>
            <a:pPr algn="ctr">
              <a:defRPr sz="2400">
                <a:solidFill>
                  <a:srgbClr val="4F81BD"/>
                </a:solidFill>
              </a:defRPr>
            </a:pPr>
            <a:r>
              <a:t>Software Development Processes Powered by AI Agents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What You'll Learn</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Derive user stories from architecture documents</a:t>
            </a:r>
          </a:p>
          <a:p>
            <a:pPr>
              <a:spcAft>
                <a:spcPts val="1200"/>
              </a:spcAft>
            </a:pPr>
            <a:r>
              <a:rPr sz="2000">
                <a:solidFill>
                  <a:srgbClr val="404040"/>
                </a:solidFill>
              </a:rPr>
              <a:t>• Write testable acceptance criteria (GIVEN-WHEN-THEN)</a:t>
            </a:r>
          </a:p>
          <a:p>
            <a:pPr>
              <a:spcAft>
                <a:spcPts val="1200"/>
              </a:spcAft>
            </a:pPr>
            <a:r>
              <a:rPr sz="2000">
                <a:solidFill>
                  <a:srgbClr val="404040"/>
                </a:solidFill>
              </a:rPr>
              <a:t>• Decompose stories into FE, BE, and INFRA sub-stories</a:t>
            </a:r>
          </a:p>
          <a:p>
            <a:pPr>
              <a:spcAft>
                <a:spcPts val="1200"/>
              </a:spcAft>
            </a:pPr>
            <a:r>
              <a:rPr sz="2000">
                <a:solidFill>
                  <a:srgbClr val="404040"/>
                </a:solidFill>
              </a:rPr>
              <a:t>• Apply Pareto principle to prioritize high-impact stories</a:t>
            </a:r>
          </a:p>
          <a:p>
            <a:pPr>
              <a:spcAft>
                <a:spcPts val="1200"/>
              </a:spcAft>
            </a:pPr>
            <a:r>
              <a:rPr sz="2000">
                <a:solidFill>
                  <a:srgbClr val="404040"/>
                </a:solidFill>
              </a:rPr>
              <a:t>• Maintain traceability: architecture → story → scenario → test</a:t>
            </a:r>
          </a:p>
          <a:p>
            <a:pPr>
              <a:spcAft>
                <a:spcPts val="1200"/>
              </a:spcAft>
            </a:pPr>
            <a:r>
              <a:rPr sz="2000">
                <a:solidFill>
                  <a:srgbClr val="404040"/>
                </a:solidFill>
              </a:rPr>
              <a:t>• Build a Kiro CLI agent that automates story derivation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1</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Why Requirements Engineering?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3657600" cy="1828800"/>
          </a:xfrm>
          <a:prstGeom prst="rect">
            <a:avLst/>
          </a:prstGeom>
          <a:noFill/>
        </p:spPr>
        <p:txBody>
          <a:bodyPr wrap="none">
            <a:spAutoFit/>
          </a:bodyPr>
          <a:lstStyle/>
          <a:p>
            <a:pPr algn="ctr">
              <a:defRPr sz="12000" b="1">
                <a:solidFill>
                  <a:srgbClr val="FF7F00"/>
                </a:solidFill>
              </a:defRPr>
            </a:pPr>
            <a:r>
              <a:t>⚠️</a:t>
            </a:r>
          </a:p>
        </p:txBody>
      </p:sp>
      <p:sp>
        <p:nvSpPr>
          <p:cNvPr id="3" name="TextBox 2"/>
          <p:cNvSpPr txBox="1"/>
          <p:nvPr/>
        </p:nvSpPr>
        <p:spPr>
          <a:xfrm>
            <a:off x="5029200" y="1828800"/>
            <a:ext cx="6248095" cy="914400"/>
          </a:xfrm>
          <a:prstGeom prst="rect">
            <a:avLst/>
          </a:prstGeom>
          <a:noFill/>
        </p:spPr>
        <p:txBody>
          <a:bodyPr wrap="none">
            <a:spAutoFit/>
          </a:bodyPr>
          <a:lstStyle/>
          <a:p>
            <a:pPr>
              <a:defRPr sz="3600" b="1">
                <a:solidFill>
                  <a:srgbClr val="1F3864"/>
                </a:solidFill>
              </a:defRPr>
            </a:pPr>
            <a:r>
              <a:t>Without Requirements</a:t>
            </a:r>
          </a:p>
        </p:txBody>
      </p:sp>
      <p:sp>
        <p:nvSpPr>
          <p:cNvPr id="4" name="TextBox 3"/>
          <p:cNvSpPr txBox="1"/>
          <p:nvPr/>
        </p:nvSpPr>
        <p:spPr>
          <a:xfrm>
            <a:off x="5029200" y="2926080"/>
            <a:ext cx="6248095" cy="3200400"/>
          </a:xfrm>
          <a:prstGeom prst="rect">
            <a:avLst/>
          </a:prstGeom>
          <a:noFill/>
        </p:spPr>
        <p:txBody>
          <a:bodyPr wrap="square">
            <a:spAutoFit/>
          </a:bodyPr>
          <a:lstStyle/>
          <a:p>
            <a:r>
              <a:rPr sz="1800">
                <a:solidFill>
                  <a:srgbClr val="404040"/>
                </a:solidFill>
              </a:rPr>
              <a:t>Developer: "I'll build the login page"
PM: "But we need the payment flow first"
Tester: "How do I know if login works correctly?"
Misaligned priorities. Untestable features. Wasted effort.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With Requirements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With Structured Requirements</a:t>
            </a:r>
          </a:p>
          <a:p>
            <a:pPr>
              <a:spcAft>
                <a:spcPts val="1200"/>
              </a:spcAft>
            </a:pPr>
            <a:r>
              <a:rPr sz="2000">
                <a:solidFill>
                  <a:srgbClr val="404040"/>
                </a:solidFill>
              </a:rPr>
              <a:t>• </a:t>
            </a:r>
            <a:r>
              <a:rPr b="1" sz="2000">
                <a:solidFill>
                  <a:srgbClr val="404040"/>
                </a:solidFill>
              </a:rPr>
              <a:t>Clear priority</a:t>
            </a:r>
            <a:r>
              <a:rPr sz="2000">
                <a:solidFill>
                  <a:srgbClr val="404040"/>
                </a:solidFill>
              </a:rPr>
              <a:t> — everyone knows what to build first</a:t>
            </a:r>
          </a:p>
          <a:p>
            <a:pPr>
              <a:spcAft>
                <a:spcPts val="1200"/>
              </a:spcAft>
            </a:pPr>
            <a:r>
              <a:rPr sz="2000">
                <a:solidFill>
                  <a:srgbClr val="404040"/>
                </a:solidFill>
              </a:rPr>
              <a:t>• </a:t>
            </a:r>
            <a:r>
              <a:rPr b="1" sz="2000">
                <a:solidFill>
                  <a:srgbClr val="404040"/>
                </a:solidFill>
              </a:rPr>
              <a:t>Testable</a:t>
            </a:r>
            <a:r>
              <a:rPr sz="2000">
                <a:solidFill>
                  <a:srgbClr val="404040"/>
                </a:solidFill>
              </a:rPr>
              <a:t> — every feature has acceptance criteria</a:t>
            </a:r>
          </a:p>
          <a:p>
            <a:pPr>
              <a:spcAft>
                <a:spcPts val="1200"/>
              </a:spcAft>
            </a:pPr>
            <a:r>
              <a:rPr sz="2000">
                <a:solidFill>
                  <a:srgbClr val="404040"/>
                </a:solidFill>
              </a:rPr>
              <a:t>• </a:t>
            </a:r>
            <a:r>
              <a:rPr b="1" sz="2000">
                <a:solidFill>
                  <a:srgbClr val="404040"/>
                </a:solidFill>
              </a:rPr>
              <a:t>Traceable</a:t>
            </a:r>
            <a:r>
              <a:rPr sz="2000">
                <a:solidFill>
                  <a:srgbClr val="404040"/>
                </a:solidFill>
              </a:rPr>
              <a:t> — every test maps back to a requirement</a:t>
            </a:r>
          </a:p>
          <a:p>
            <a:pPr>
              <a:spcAft>
                <a:spcPts val="1200"/>
              </a:spcAft>
            </a:pPr>
            <a:r>
              <a:rPr sz="2000">
                <a:solidFill>
                  <a:srgbClr val="404040"/>
                </a:solidFill>
              </a:rPr>
              <a:t>• </a:t>
            </a:r>
            <a:r>
              <a:rPr b="1" sz="2000">
                <a:solidFill>
                  <a:srgbClr val="404040"/>
                </a:solidFill>
              </a:rPr>
              <a:t>Measurable</a:t>
            </a:r>
            <a:r>
              <a:rPr sz="2000">
                <a:solidFill>
                  <a:srgbClr val="404040"/>
                </a:solidFill>
              </a:rPr>
              <a:t> — progress is visible (3/10 stories done)</a:t>
            </a:r>
          </a:p>
          <a:p>
            <a:pPr>
              <a:spcAft>
                <a:spcPts val="1200"/>
              </a:spcAft>
            </a:pPr>
            <a:r>
              <a:rPr sz="2000">
                <a:solidFill>
                  <a:srgbClr val="404040"/>
                </a:solidFill>
              </a:rPr>
              <a:t>• </a:t>
            </a:r>
            <a:r>
              <a:rPr b="1" sz="2000">
                <a:solidFill>
                  <a:srgbClr val="404040"/>
                </a:solidFill>
              </a:rPr>
              <a:t>Aligned</a:t>
            </a:r>
            <a:r>
              <a:rPr sz="2000">
                <a:solidFill>
                  <a:srgbClr val="404040"/>
                </a:solidFill>
              </a:rPr>
              <a:t> — developers, testers, PMs agree on scope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2</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User Stories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User Story Format</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t>
            </a:r>
            <a:r>
              <a:rPr b="1" sz="2000">
                <a:solidFill>
                  <a:srgbClr val="404040"/>
                </a:solidFill>
              </a:rPr>
              <a:t>AS A</a:t>
            </a:r>
            <a:r>
              <a:rPr sz="2000">
                <a:solidFill>
                  <a:srgbClr val="404040"/>
                </a:solidFill>
              </a:rPr>
              <a:t> &lt;role&gt;</a:t>
            </a:r>
          </a:p>
          <a:p>
            <a:pPr>
              <a:spcAft>
                <a:spcPts val="1200"/>
              </a:spcAft>
            </a:pPr>
            <a:r>
              <a:rPr sz="2000">
                <a:solidFill>
                  <a:srgbClr val="404040"/>
                </a:solidFill>
              </a:rPr>
              <a:t>• </a:t>
            </a:r>
            <a:r>
              <a:rPr b="1" sz="2000">
                <a:solidFill>
                  <a:srgbClr val="404040"/>
                </a:solidFill>
              </a:rPr>
              <a:t>I WANT</a:t>
            </a:r>
            <a:r>
              <a:rPr sz="2000">
                <a:solidFill>
                  <a:srgbClr val="404040"/>
                </a:solidFill>
              </a:rPr>
              <a:t> &lt;feature&gt;</a:t>
            </a:r>
          </a:p>
          <a:p>
            <a:pPr>
              <a:spcAft>
                <a:spcPts val="1200"/>
              </a:spcAft>
            </a:pPr>
            <a:r>
              <a:rPr sz="2000">
                <a:solidFill>
                  <a:srgbClr val="404040"/>
                </a:solidFill>
              </a:rPr>
              <a:t>• </a:t>
            </a:r>
            <a:r>
              <a:rPr b="1" sz="2000">
                <a:solidFill>
                  <a:srgbClr val="404040"/>
                </a:solidFill>
              </a:rPr>
              <a:t>SO THAT</a:t>
            </a:r>
            <a:r>
              <a:rPr sz="2000">
                <a:solidFill>
                  <a:srgbClr val="404040"/>
                </a:solidFill>
              </a:rPr>
              <a:t> &lt;benefit&gt;</a:t>
            </a:r>
          </a:p>
          <a:p>
            <a:pPr>
              <a:spcAft>
                <a:spcPts val="1200"/>
              </a:spcAft>
            </a:pPr>
            <a:r>
              <a:rPr sz="2000">
                <a:solidFill>
                  <a:srgbClr val="404040"/>
                </a:solidFill>
              </a:rPr>
              <a:t>• Example:</a:t>
            </a:r>
          </a:p>
          <a:p>
            <a:pPr>
              <a:spcAft>
                <a:spcPts val="1200"/>
              </a:spcAft>
            </a:pPr>
            <a:r>
              <a:rPr sz="2000">
                <a:solidFill>
                  <a:srgbClr val="404040"/>
                </a:solidFill>
              </a:rPr>
              <a:t>• AS A customer</a:t>
            </a:r>
          </a:p>
          <a:p>
            <a:pPr>
              <a:spcAft>
                <a:spcPts val="1200"/>
              </a:spcAft>
            </a:pPr>
            <a:r>
              <a:rPr sz="2000">
                <a:solidFill>
                  <a:srgbClr val="404040"/>
                </a:solidFill>
              </a:rPr>
              <a:t>• I WANT to search products by name</a:t>
            </a:r>
          </a:p>
          <a:p>
            <a:pPr>
              <a:spcAft>
                <a:spcPts val="1200"/>
              </a:spcAft>
            </a:pPr>
            <a:r>
              <a:rPr sz="2000">
                <a:solidFill>
                  <a:srgbClr val="404040"/>
                </a:solidFill>
              </a:rPr>
              <a:t>• SO THAT I can find what I'm looking for quickly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INVEST Criteria</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Good Stories Are INVEST</a:t>
            </a:r>
          </a:p>
          <a:p>
            <a:pPr>
              <a:spcAft>
                <a:spcPts val="1200"/>
              </a:spcAft>
            </a:pPr>
            <a:r>
              <a:rPr sz="2000">
                <a:solidFill>
                  <a:srgbClr val="404040"/>
                </a:solidFill>
              </a:rPr>
              <a:t>• </a:t>
            </a:r>
            <a:r>
              <a:rPr b="1" sz="2000">
                <a:solidFill>
                  <a:srgbClr val="404040"/>
                </a:solidFill>
              </a:rPr>
              <a:t>I</a:t>
            </a:r>
            <a:r>
              <a:rPr sz="2000">
                <a:solidFill>
                  <a:srgbClr val="404040"/>
                </a:solidFill>
              </a:rPr>
              <a:t>ndependent — can be developed in any order</a:t>
            </a:r>
          </a:p>
          <a:p>
            <a:pPr>
              <a:spcAft>
                <a:spcPts val="1200"/>
              </a:spcAft>
            </a:pPr>
            <a:r>
              <a:rPr sz="2000">
                <a:solidFill>
                  <a:srgbClr val="404040"/>
                </a:solidFill>
              </a:rPr>
              <a:t>• </a:t>
            </a:r>
            <a:r>
              <a:rPr b="1" sz="2000">
                <a:solidFill>
                  <a:srgbClr val="404040"/>
                </a:solidFill>
              </a:rPr>
              <a:t>N</a:t>
            </a:r>
            <a:r>
              <a:rPr sz="2000">
                <a:solidFill>
                  <a:srgbClr val="404040"/>
                </a:solidFill>
              </a:rPr>
              <a:t>egotiable — details can be discussed</a:t>
            </a:r>
          </a:p>
          <a:p>
            <a:pPr>
              <a:spcAft>
                <a:spcPts val="1200"/>
              </a:spcAft>
            </a:pPr>
            <a:r>
              <a:rPr sz="2000">
                <a:solidFill>
                  <a:srgbClr val="404040"/>
                </a:solidFill>
              </a:rPr>
              <a:t>• </a:t>
            </a:r>
            <a:r>
              <a:rPr b="1" sz="2000">
                <a:solidFill>
                  <a:srgbClr val="404040"/>
                </a:solidFill>
              </a:rPr>
              <a:t>V</a:t>
            </a:r>
            <a:r>
              <a:rPr sz="2000">
                <a:solidFill>
                  <a:srgbClr val="404040"/>
                </a:solidFill>
              </a:rPr>
              <a:t>aluable — delivers value to the user</a:t>
            </a:r>
          </a:p>
          <a:p>
            <a:pPr>
              <a:spcAft>
                <a:spcPts val="1200"/>
              </a:spcAft>
            </a:pPr>
            <a:r>
              <a:rPr sz="2000">
                <a:solidFill>
                  <a:srgbClr val="404040"/>
                </a:solidFill>
              </a:rPr>
              <a:t>• </a:t>
            </a:r>
            <a:r>
              <a:rPr b="1" sz="2000">
                <a:solidFill>
                  <a:srgbClr val="404040"/>
                </a:solidFill>
              </a:rPr>
              <a:t>E</a:t>
            </a:r>
            <a:r>
              <a:rPr sz="2000">
                <a:solidFill>
                  <a:srgbClr val="404040"/>
                </a:solidFill>
              </a:rPr>
              <a:t>stimable — team can estimate effort</a:t>
            </a:r>
          </a:p>
          <a:p>
            <a:pPr>
              <a:spcAft>
                <a:spcPts val="1200"/>
              </a:spcAft>
            </a:pPr>
            <a:r>
              <a:rPr sz="2000">
                <a:solidFill>
                  <a:srgbClr val="404040"/>
                </a:solidFill>
              </a:rPr>
              <a:t>• </a:t>
            </a:r>
            <a:r>
              <a:rPr b="1" sz="2000">
                <a:solidFill>
                  <a:srgbClr val="404040"/>
                </a:solidFill>
              </a:rPr>
              <a:t>S</a:t>
            </a:r>
            <a:r>
              <a:rPr sz="2000">
                <a:solidFill>
                  <a:srgbClr val="404040"/>
                </a:solidFill>
              </a:rPr>
              <a:t>mall — fits in one sprint/iteration</a:t>
            </a:r>
          </a:p>
          <a:p>
            <a:pPr>
              <a:spcAft>
                <a:spcPts val="1200"/>
              </a:spcAft>
            </a:pPr>
            <a:r>
              <a:rPr sz="2000">
                <a:solidFill>
                  <a:srgbClr val="404040"/>
                </a:solidFill>
              </a:rPr>
              <a:t>• </a:t>
            </a:r>
            <a:r>
              <a:rPr b="1" sz="2000">
                <a:solidFill>
                  <a:srgbClr val="404040"/>
                </a:solidFill>
              </a:rPr>
              <a:t>T</a:t>
            </a:r>
            <a:r>
              <a:rPr sz="2000">
                <a:solidFill>
                  <a:srgbClr val="404040"/>
                </a:solidFill>
              </a:rPr>
              <a:t>estable — has clear acceptance criteria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Bad vs Good Stories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 AS A user I WANT the system to work SO THAT I can use it</a:t>
            </a:r>
          </a:p>
          <a:p>
            <a:pPr>
              <a:spcAft>
                <a:spcPts val="1200"/>
              </a:spcAft>
            </a:pPr>
            <a:r>
              <a:rPr sz="2000">
                <a:solidFill>
                  <a:srgbClr val="404040"/>
                </a:solidFill>
              </a:rPr>
              <a:t>• ❌ AS A developer I WANT to create a database table</a:t>
            </a:r>
          </a:p>
          <a:p>
            <a:pPr>
              <a:spcAft>
                <a:spcPts val="1200"/>
              </a:spcAft>
            </a:pPr>
            <a:r>
              <a:rPr sz="2000">
                <a:solidFill>
                  <a:srgbClr val="404040"/>
                </a:solidFill>
              </a:rPr>
              <a:t>• ❌ Build the entire checkout flow</a:t>
            </a:r>
          </a:p>
          <a:p>
            <a:pPr>
              <a:spcAft>
                <a:spcPts val="1200"/>
              </a:spcAft>
            </a:pPr>
            <a:r>
              <a:rPr sz="2000">
                <a:solidFill>
                  <a:srgbClr val="404040"/>
                </a:solidFill>
              </a:rPr>
              <a:t>• ✅ AS A customer I WANT to add items to cart SO THAT I can purchase multiple products</a:t>
            </a:r>
          </a:p>
          <a:p>
            <a:pPr>
              <a:spcAft>
                <a:spcPts val="1200"/>
              </a:spcAft>
            </a:pPr>
            <a:r>
              <a:rPr sz="2000">
                <a:solidFill>
                  <a:srgbClr val="404040"/>
                </a:solidFill>
              </a:rPr>
              <a:t>• ✅ AS A merchant I WANT to see daily revenue SO THAT I can track business performance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3</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From Architecture to Stories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Bounded Contexts → Domains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Architecture → Story Domains</a:t>
            </a:r>
          </a:p>
          <a:p>
            <a:pPr>
              <a:spcAft>
                <a:spcPts val="1200"/>
              </a:spcAft>
            </a:pPr>
            <a:r>
              <a:rPr sz="2000">
                <a:solidFill>
                  <a:srgbClr val="404040"/>
                </a:solidFill>
              </a:rPr>
              <a:t>• Each </a:t>
            </a:r>
            <a:r>
              <a:rPr b="1" sz="2000">
                <a:solidFill>
                  <a:srgbClr val="404040"/>
                </a:solidFill>
              </a:rPr>
              <a:t>bounded context</a:t>
            </a:r>
            <a:r>
              <a:rPr sz="2000">
                <a:solidFill>
                  <a:srgbClr val="404040"/>
                </a:solidFill>
              </a:rPr>
              <a:t> from Module 2 becomes a </a:t>
            </a:r>
            <a:r>
              <a:rPr b="1" sz="2000">
                <a:solidFill>
                  <a:srgbClr val="404040"/>
                </a:solidFill>
              </a:rPr>
              <a:t>domain</a:t>
            </a:r>
          </a:p>
          <a:p>
            <a:pPr>
              <a:spcAft>
                <a:spcPts val="1200"/>
              </a:spcAft>
            </a:pPr>
            <a:r>
              <a:rPr sz="2000">
                <a:solidFill>
                  <a:srgbClr val="404040"/>
                </a:solidFill>
              </a:rPr>
              <a:t>• Bounded Context: Order Management → Domain: ORDER</a:t>
            </a:r>
          </a:p>
          <a:p>
            <a:pPr>
              <a:spcAft>
                <a:spcPts val="1200"/>
              </a:spcAft>
            </a:pPr>
            <a:r>
              <a:rPr sz="2000">
                <a:solidFill>
                  <a:srgbClr val="404040"/>
                </a:solidFill>
              </a:rPr>
              <a:t>• Bounded Context: Inventory → Domain: INVENTORY</a:t>
            </a:r>
          </a:p>
          <a:p>
            <a:pPr>
              <a:spcAft>
                <a:spcPts val="1200"/>
              </a:spcAft>
            </a:pPr>
            <a:r>
              <a:rPr sz="2000">
                <a:solidFill>
                  <a:srgbClr val="404040"/>
                </a:solidFill>
              </a:rPr>
              <a:t>• Bounded Context: User Auth → Domain: AUTH</a:t>
            </a:r>
          </a:p>
          <a:p>
            <a:pPr>
              <a:spcAft>
                <a:spcPts val="1200"/>
              </a:spcAft>
            </a:pPr>
            <a:r>
              <a:rPr sz="2000">
                <a:solidFill>
                  <a:srgbClr val="404040"/>
                </a:solidFill>
              </a:rPr>
              <a:t>• Domain names become </a:t>
            </a:r>
            <a:r>
              <a:rPr b="1" sz="2000">
                <a:solidFill>
                  <a:srgbClr val="404040"/>
                </a:solidFill>
              </a:rPr>
              <a:t>prefixes</a:t>
            </a:r>
            <a:r>
              <a:rPr sz="2000">
                <a:solidFill>
                  <a:srgbClr val="404040"/>
                </a:solidFill>
              </a:rPr>
              <a:t> for Story IDs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4</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Acceptance Criteria: GIVEN-WHEN-THEN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GIVEN-WHEN-THEN Format</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GIVEN-WHEN-THEN</a:t>
            </a:r>
          </a:p>
          <a:p>
            <a:pPr>
              <a:spcAft>
                <a:spcPts val="1200"/>
              </a:spcAft>
            </a:pPr>
            <a:r>
              <a:rPr sz="2000">
                <a:solidFill>
                  <a:srgbClr val="404040"/>
                </a:solidFill>
              </a:rPr>
              <a:t>• </a:t>
            </a:r>
            <a:r>
              <a:rPr b="1" sz="2000">
                <a:solidFill>
                  <a:srgbClr val="404040"/>
                </a:solidFill>
              </a:rPr>
              <a:t>GIVEN</a:t>
            </a:r>
            <a:r>
              <a:rPr sz="2000">
                <a:solidFill>
                  <a:srgbClr val="404040"/>
                </a:solidFill>
              </a:rPr>
              <a:t> — preconditions (test setup)</a:t>
            </a:r>
          </a:p>
          <a:p>
            <a:pPr>
              <a:spcAft>
                <a:spcPts val="1200"/>
              </a:spcAft>
            </a:pPr>
            <a:r>
              <a:rPr sz="2000">
                <a:solidFill>
                  <a:srgbClr val="404040"/>
                </a:solidFill>
              </a:rPr>
              <a:t>• </a:t>
            </a:r>
            <a:r>
              <a:rPr b="1" sz="2000">
                <a:solidFill>
                  <a:srgbClr val="404040"/>
                </a:solidFill>
              </a:rPr>
              <a:t>WHEN</a:t>
            </a:r>
            <a:r>
              <a:rPr sz="2000">
                <a:solidFill>
                  <a:srgbClr val="404040"/>
                </a:solidFill>
              </a:rPr>
              <a:t> — action under test (trigger)</a:t>
            </a:r>
          </a:p>
          <a:p>
            <a:pPr>
              <a:spcAft>
                <a:spcPts val="1200"/>
              </a:spcAft>
            </a:pPr>
            <a:r>
              <a:rPr sz="2000">
                <a:solidFill>
                  <a:srgbClr val="404040"/>
                </a:solidFill>
              </a:rPr>
              <a:t>• </a:t>
            </a:r>
            <a:r>
              <a:rPr b="1" sz="2000">
                <a:solidFill>
                  <a:srgbClr val="404040"/>
                </a:solidFill>
              </a:rPr>
              <a:t>THEN</a:t>
            </a:r>
            <a:r>
              <a:rPr sz="2000">
                <a:solidFill>
                  <a:srgbClr val="404040"/>
                </a:solidFill>
              </a:rPr>
              <a:t> — expected outcome (assertions)</a:t>
            </a:r>
          </a:p>
          <a:p>
            <a:pPr>
              <a:spcAft>
                <a:spcPts val="1200"/>
              </a:spcAft>
            </a:pPr>
            <a:r>
              <a:rPr sz="2000">
                <a:solidFill>
                  <a:srgbClr val="404040"/>
                </a:solidFill>
              </a:rPr>
              <a:t>• Example:</a:t>
            </a:r>
          </a:p>
          <a:p>
            <a:pPr>
              <a:spcAft>
                <a:spcPts val="1200"/>
              </a:spcAft>
            </a:pPr>
            <a:r>
              <a:rPr sz="2000">
                <a:solidFill>
                  <a:srgbClr val="404040"/>
                </a:solidFill>
              </a:rPr>
              <a:t>• GIVEN product catalogue contains "Red Widget"</a:t>
            </a:r>
          </a:p>
          <a:p>
            <a:pPr>
              <a:spcAft>
                <a:spcPts val="1200"/>
              </a:spcAft>
            </a:pPr>
            <a:r>
              <a:rPr sz="2000">
                <a:solidFill>
                  <a:srgbClr val="404040"/>
                </a:solidFill>
              </a:rPr>
              <a:t>• WHEN I search for "Widget"</a:t>
            </a:r>
          </a:p>
          <a:p>
            <a:pPr>
              <a:spcAft>
                <a:spcPts val="1200"/>
              </a:spcAft>
            </a:pPr>
            <a:r>
              <a:rPr sz="2000">
                <a:solidFill>
                  <a:srgbClr val="404040"/>
                </a:solidFill>
              </a:rPr>
              <a:t>• THEN results show "Red Widget"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GIVEN-WHEN-THEN → Test Code</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Scenarios Map to Tests</a:t>
            </a:r>
          </a:p>
          <a:p>
            <a:pPr>
              <a:spcAft>
                <a:spcPts val="1200"/>
              </a:spcAft>
            </a:pPr>
            <a:r>
              <a:rPr sz="2000">
                <a:solidFill>
                  <a:srgbClr val="404040"/>
                </a:solidFill>
              </a:rPr>
              <a:t>• ```python</a:t>
            </a:r>
          </a:p>
          <a:p>
            <a:pPr>
              <a:spcAft>
                <a:spcPts val="1200"/>
              </a:spcAft>
            </a:pPr>
            <a:r>
              <a:rPr sz="2000">
                <a:solidFill>
                  <a:srgbClr val="404040"/>
                </a:solidFill>
              </a:rPr>
              <a:t>• def test_search_returns_matching():</a:t>
            </a:r>
          </a:p>
          <a:p>
            <a:pPr lvl="1">
              <a:spcAft>
                <a:spcPts val="1200"/>
              </a:spcAft>
            </a:pPr>
            <a:r>
              <a:rPr sz="2000">
                <a:solidFill>
                  <a:srgbClr val="404040"/>
                </a:solidFill>
              </a:rPr>
              <a:t>• # GIVEN</a:t>
            </a:r>
          </a:p>
          <a:p>
            <a:pPr lvl="1">
              <a:spcAft>
                <a:spcPts val="1200"/>
              </a:spcAft>
            </a:pPr>
            <a:r>
              <a:rPr sz="2000">
                <a:solidFill>
                  <a:srgbClr val="404040"/>
                </a:solidFill>
              </a:rPr>
              <a:t>• catalogue = create(["Red Widget"])</a:t>
            </a:r>
          </a:p>
          <a:p>
            <a:pPr lvl="1">
              <a:spcAft>
                <a:spcPts val="1200"/>
              </a:spcAft>
            </a:pPr>
            <a:r>
              <a:rPr sz="2000">
                <a:solidFill>
                  <a:srgbClr val="404040"/>
                </a:solidFill>
              </a:rPr>
              <a:t>• # WHEN</a:t>
            </a:r>
          </a:p>
          <a:p>
            <a:pPr lvl="1">
              <a:spcAft>
                <a:spcPts val="1200"/>
              </a:spcAft>
            </a:pPr>
            <a:r>
              <a:rPr sz="2000">
                <a:solidFill>
                  <a:srgbClr val="404040"/>
                </a:solidFill>
              </a:rPr>
              <a:t>• results = search(catalogue, "Widget")</a:t>
            </a:r>
          </a:p>
          <a:p>
            <a:pPr lvl="1">
              <a:spcAft>
                <a:spcPts val="1200"/>
              </a:spcAft>
            </a:pPr>
            <a:r>
              <a:rPr sz="2000">
                <a:solidFill>
                  <a:srgbClr val="404040"/>
                </a:solidFill>
              </a:rPr>
              <a:t>• # THEN</a:t>
            </a:r>
          </a:p>
          <a:p>
            <a:pPr lvl="1">
              <a:spcAft>
                <a:spcPts val="1200"/>
              </a:spcAft>
            </a:pPr>
            <a:r>
              <a:rPr sz="2000">
                <a:solidFill>
                  <a:srgbClr val="404040"/>
                </a:solidFill>
              </a:rPr>
              <a:t>• assert results[0].name == "Red Widget"</a:t>
            </a:r>
          </a:p>
          <a:p>
            <a:pPr>
              <a:spcAft>
                <a:spcPts val="1200"/>
              </a:spcAft>
            </a:pPr>
            <a:r>
              <a:rPr sz="2000">
                <a:solidFill>
                  <a:srgbClr val="404040"/>
                </a:solidFill>
              </a:rPr>
              <a:t>• ```</a:t>
            </a:r>
          </a:p>
          <a:p>
            <a:pPr>
              <a:spcAft>
                <a:spcPts val="1200"/>
              </a:spcAft>
            </a:pPr>
            <a:r>
              <a:rPr sz="2000">
                <a:solidFill>
                  <a:srgbClr val="404040"/>
                </a:solidFill>
              </a:rPr>
              <a:t>• Every GIVEN = setup</a:t>
            </a:r>
          </a:p>
          <a:p>
            <a:pPr>
              <a:spcAft>
                <a:spcPts val="1200"/>
              </a:spcAft>
            </a:pPr>
            <a:r>
              <a:rPr sz="2000">
                <a:solidFill>
                  <a:srgbClr val="404040"/>
                </a:solidFill>
              </a:rPr>
              <a:t>• Every WHEN = action</a:t>
            </a:r>
          </a:p>
          <a:p>
            <a:pPr>
              <a:spcAft>
                <a:spcPts val="1200"/>
              </a:spcAft>
            </a:pPr>
            <a:r>
              <a:rPr sz="2000">
                <a:solidFill>
                  <a:srgbClr val="404040"/>
                </a:solidFill>
              </a:rPr>
              <a:t>• Every THEN = assertion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5</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Story Decomposition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Decomposition Pattern</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Story Decomposition: Original → Sub-stories</a:t>
            </a:r>
          </a:p>
          <a:p>
            <a:pPr>
              <a:spcAft>
                <a:spcPts val="1200"/>
              </a:spcAft>
            </a:pPr>
            <a:r>
              <a:rPr sz="2000">
                <a:solidFill>
                  <a:srgbClr val="404040"/>
                </a:solidFill>
              </a:rPr>
              <a:t>• </a:t>
            </a:r>
            <a:r>
              <a:rPr b="1" sz="2000">
                <a:solidFill>
                  <a:srgbClr val="404040"/>
                </a:solidFill>
              </a:rPr>
              <a:t>Original Story</a:t>
            </a:r>
            <a:r>
              <a:rPr sz="2000">
                <a:solidFill>
                  <a:srgbClr val="404040"/>
                </a:solidFill>
              </a:rPr>
              <a:t> — the user-facing requirement (E2E test)</a:t>
            </a:r>
          </a:p>
          <a:p>
            <a:pPr>
              <a:spcAft>
                <a:spcPts val="1200"/>
              </a:spcAft>
            </a:pPr>
            <a:r>
              <a:rPr sz="2000">
                <a:solidFill>
                  <a:srgbClr val="404040"/>
                </a:solidFill>
              </a:rPr>
              <a:t>• </a:t>
            </a:r>
            <a:r>
              <a:rPr b="1" sz="2000">
                <a:solidFill>
                  <a:srgbClr val="404040"/>
                </a:solidFill>
              </a:rPr>
              <a:t>FE Stories</a:t>
            </a:r>
            <a:r>
              <a:rPr sz="2000">
                <a:solidFill>
                  <a:srgbClr val="404040"/>
                </a:solidFill>
              </a:rPr>
              <a:t> — UI components (component tests)</a:t>
            </a:r>
          </a:p>
          <a:p>
            <a:pPr>
              <a:spcAft>
                <a:spcPts val="1200"/>
              </a:spcAft>
            </a:pPr>
            <a:r>
              <a:rPr sz="2000">
                <a:solidFill>
                  <a:srgbClr val="404040"/>
                </a:solidFill>
              </a:rPr>
              <a:t>• </a:t>
            </a:r>
            <a:r>
              <a:rPr b="1" sz="2000">
                <a:solidFill>
                  <a:srgbClr val="404040"/>
                </a:solidFill>
              </a:rPr>
              <a:t>BE Stories</a:t>
            </a:r>
            <a:r>
              <a:rPr sz="2000">
                <a:solidFill>
                  <a:srgbClr val="404040"/>
                </a:solidFill>
              </a:rPr>
              <a:t> — API/business logic (unit tests)</a:t>
            </a:r>
          </a:p>
          <a:p>
            <a:pPr>
              <a:spcAft>
                <a:spcPts val="1200"/>
              </a:spcAft>
            </a:pPr>
            <a:r>
              <a:rPr sz="2000">
                <a:solidFill>
                  <a:srgbClr val="404040"/>
                </a:solidFill>
              </a:rPr>
              <a:t>• </a:t>
            </a:r>
            <a:r>
              <a:rPr b="1" sz="2000">
                <a:solidFill>
                  <a:srgbClr val="404040"/>
                </a:solidFill>
              </a:rPr>
              <a:t>INFRA Stories</a:t>
            </a:r>
            <a:r>
              <a:rPr sz="2000">
                <a:solidFill>
                  <a:srgbClr val="404040"/>
                </a:solidFill>
              </a:rPr>
              <a:t> — Lambda, DynamoDB, events, monitoring</a:t>
            </a:r>
          </a:p>
          <a:p>
            <a:pPr>
              <a:spcAft>
                <a:spcPts val="1200"/>
              </a:spcAft>
            </a:pPr>
            <a:r>
              <a:rPr sz="2000">
                <a:solidFill>
                  <a:srgbClr val="404040"/>
                </a:solidFill>
              </a:rPr>
              <a:t>• Implementation order: </a:t>
            </a:r>
            <a:r>
              <a:rPr b="1" sz="2000">
                <a:solidFill>
                  <a:srgbClr val="404040"/>
                </a:solidFill>
              </a:rPr>
              <a:t>INFRA → BE → FE → E2E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Decomposition Example</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Example: "Search Products" Story</a:t>
            </a:r>
          </a:p>
          <a:p>
            <a:pPr>
              <a:spcAft>
                <a:spcPts val="1200"/>
              </a:spcAft>
            </a:pPr>
            <a:r>
              <a:rPr sz="2000">
                <a:solidFill>
                  <a:srgbClr val="404040"/>
                </a:solidFill>
              </a:rPr>
              <a:t>• STORY-001: AS A customer I WANT to search products</a:t>
            </a:r>
          </a:p>
          <a:p>
            <a:pPr>
              <a:spcAft>
                <a:spcPts val="1200"/>
              </a:spcAft>
            </a:pPr>
            <a:r>
              <a:rPr sz="2000">
                <a:solidFill>
                  <a:srgbClr val="404040"/>
                </a:solidFill>
              </a:rPr>
              <a:t>• ├── FE-001.1: Search input component</a:t>
            </a:r>
          </a:p>
          <a:p>
            <a:pPr>
              <a:spcAft>
                <a:spcPts val="1200"/>
              </a:spcAft>
            </a:pPr>
            <a:r>
              <a:rPr sz="2000">
                <a:solidFill>
                  <a:srgbClr val="404040"/>
                </a:solidFill>
              </a:rPr>
              <a:t>• ├── FE-001.2: Results list component</a:t>
            </a:r>
          </a:p>
          <a:p>
            <a:pPr>
              <a:spcAft>
                <a:spcPts val="1200"/>
              </a:spcAft>
            </a:pPr>
            <a:r>
              <a:rPr sz="2000">
                <a:solidFill>
                  <a:srgbClr val="404040"/>
                </a:solidFill>
              </a:rPr>
              <a:t>• ├── BE-001.1: Search API endpoint</a:t>
            </a:r>
          </a:p>
          <a:p>
            <a:pPr>
              <a:spcAft>
                <a:spcPts val="1200"/>
              </a:spcAft>
            </a:pPr>
            <a:r>
              <a:rPr sz="2000">
                <a:solidFill>
                  <a:srgbClr val="404040"/>
                </a:solidFill>
              </a:rPr>
              <a:t>• ├── BE-001.2: Search indexing logic</a:t>
            </a:r>
          </a:p>
          <a:p>
            <a:pPr>
              <a:spcAft>
                <a:spcPts val="1200"/>
              </a:spcAft>
            </a:pPr>
            <a:r>
              <a:rPr sz="2000">
                <a:solidFill>
                  <a:srgbClr val="404040"/>
                </a:solidFill>
              </a:rPr>
              <a:t>• ├── INFRA-001.1: Deploy search Lambda</a:t>
            </a:r>
          </a:p>
          <a:p>
            <a:pPr>
              <a:spcAft>
                <a:spcPts val="1200"/>
              </a:spcAft>
            </a:pPr>
            <a:r>
              <a:rPr sz="2000">
                <a:solidFill>
                  <a:srgbClr val="404040"/>
                </a:solidFill>
              </a:rPr>
              <a:t>• ├── INFRA-001.2: Create products DynamoDB table</a:t>
            </a:r>
          </a:p>
          <a:p>
            <a:pPr>
              <a:spcAft>
                <a:spcPts val="1200"/>
              </a:spcAft>
            </a:pPr>
            <a:r>
              <a:rPr sz="2000">
                <a:solidFill>
                  <a:srgbClr val="404040"/>
                </a:solidFill>
              </a:rPr>
              <a:t>• ├── INFRA-001.3: Configure search event</a:t>
            </a:r>
          </a:p>
          <a:p>
            <a:pPr>
              <a:spcAft>
                <a:spcPts val="1200"/>
              </a:spcAft>
            </a:pPr>
            <a:r>
              <a:rPr sz="2000">
                <a:solidFill>
                  <a:srgbClr val="404040"/>
                </a:solidFill>
              </a:rPr>
              <a:t>• └── INFRA-001.4: Setup CloudWatch monitoring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6</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Pareto Prioritization (80/20)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3657600" cy="1828800"/>
          </a:xfrm>
          <a:prstGeom prst="rect">
            <a:avLst/>
          </a:prstGeom>
          <a:noFill/>
        </p:spPr>
        <p:txBody>
          <a:bodyPr wrap="none">
            <a:spAutoFit/>
          </a:bodyPr>
          <a:lstStyle/>
          <a:p>
            <a:pPr algn="ctr">
              <a:defRPr sz="12000" b="1">
                <a:solidFill>
                  <a:srgbClr val="FF7F00"/>
                </a:solidFill>
              </a:defRPr>
            </a:pPr>
            <a:r>
              <a:t>20%</a:t>
            </a:r>
          </a:p>
        </p:txBody>
      </p:sp>
      <p:sp>
        <p:nvSpPr>
          <p:cNvPr id="3" name="TextBox 2"/>
          <p:cNvSpPr txBox="1"/>
          <p:nvPr/>
        </p:nvSpPr>
        <p:spPr>
          <a:xfrm>
            <a:off x="5029200" y="1828800"/>
            <a:ext cx="6248095" cy="914400"/>
          </a:xfrm>
          <a:prstGeom prst="rect">
            <a:avLst/>
          </a:prstGeom>
          <a:noFill/>
        </p:spPr>
        <p:txBody>
          <a:bodyPr wrap="none">
            <a:spAutoFit/>
          </a:bodyPr>
          <a:lstStyle/>
          <a:p>
            <a:pPr>
              <a:defRPr sz="3600" b="1">
                <a:solidFill>
                  <a:srgbClr val="1F3864"/>
                </a:solidFill>
              </a:defRPr>
            </a:pPr>
            <a:r>
              <a:t>of stories deliver</a:t>
            </a:r>
          </a:p>
        </p:txBody>
      </p:sp>
      <p:sp>
        <p:nvSpPr>
          <p:cNvPr id="4" name="TextBox 3"/>
          <p:cNvSpPr txBox="1"/>
          <p:nvPr/>
        </p:nvSpPr>
        <p:spPr>
          <a:xfrm>
            <a:off x="5029200" y="2926080"/>
            <a:ext cx="6248095" cy="3200400"/>
          </a:xfrm>
          <a:prstGeom prst="rect">
            <a:avLst/>
          </a:prstGeom>
          <a:noFill/>
        </p:spPr>
        <p:txBody>
          <a:bodyPr wrap="square">
            <a:spAutoFit/>
          </a:bodyPr>
          <a:lstStyle/>
          <a:p>
            <a:r>
              <a:rPr sz="1800">
                <a:solidFill>
                  <a:srgbClr val="404040"/>
                </a:solidFill>
              </a:rPr>
              <a:t>80%
of the value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Identifying Core Stories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How to Identify Core Stories (20%)</a:t>
            </a:r>
          </a:p>
          <a:p>
            <a:pPr>
              <a:spcAft>
                <a:spcPts val="1200"/>
              </a:spcAft>
            </a:pPr>
            <a:r>
              <a:rPr sz="2000">
                <a:solidFill>
                  <a:srgbClr val="404040"/>
                </a:solidFill>
              </a:rPr>
              <a:t>• Which stories are needed for the </a:t>
            </a:r>
            <a:r>
              <a:rPr b="1" sz="2000">
                <a:solidFill>
                  <a:srgbClr val="404040"/>
                </a:solidFill>
              </a:rPr>
              <a:t>MVP</a:t>
            </a:r>
            <a:r>
              <a:rPr sz="2000">
                <a:solidFill>
                  <a:srgbClr val="404040"/>
                </a:solidFill>
              </a:rPr>
              <a:t>?</a:t>
            </a:r>
          </a:p>
          <a:p>
            <a:pPr>
              <a:spcAft>
                <a:spcPts val="1200"/>
              </a:spcAft>
            </a:pPr>
            <a:r>
              <a:rPr sz="2000">
                <a:solidFill>
                  <a:srgbClr val="404040"/>
                </a:solidFill>
              </a:rPr>
              <a:t>• Which stories </a:t>
            </a:r>
            <a:r>
              <a:rPr b="1" sz="2000">
                <a:solidFill>
                  <a:srgbClr val="404040"/>
                </a:solidFill>
              </a:rPr>
              <a:t>block</a:t>
            </a:r>
            <a:r>
              <a:rPr sz="2000">
                <a:solidFill>
                  <a:srgbClr val="404040"/>
                </a:solidFill>
              </a:rPr>
              <a:t> other stories?</a:t>
            </a:r>
          </a:p>
          <a:p>
            <a:pPr>
              <a:spcAft>
                <a:spcPts val="1200"/>
              </a:spcAft>
            </a:pPr>
            <a:r>
              <a:rPr sz="2000">
                <a:solidFill>
                  <a:srgbClr val="404040"/>
                </a:solidFill>
              </a:rPr>
              <a:t>• Which stories deliver the </a:t>
            </a:r>
            <a:r>
              <a:rPr b="1" sz="2000">
                <a:solidFill>
                  <a:srgbClr val="404040"/>
                </a:solidFill>
              </a:rPr>
              <a:t>most user value</a:t>
            </a:r>
            <a:r>
              <a:rPr sz="2000">
                <a:solidFill>
                  <a:srgbClr val="404040"/>
                </a:solidFill>
              </a:rPr>
              <a:t>?</a:t>
            </a:r>
          </a:p>
          <a:p>
            <a:pPr>
              <a:spcAft>
                <a:spcPts val="1200"/>
              </a:spcAft>
            </a:pPr>
            <a:r>
              <a:rPr sz="2000">
                <a:solidFill>
                  <a:srgbClr val="404040"/>
                </a:solidFill>
              </a:rPr>
              <a:t>• Which stories exercise the </a:t>
            </a:r>
            <a:r>
              <a:rPr b="1" sz="2000">
                <a:solidFill>
                  <a:srgbClr val="404040"/>
                </a:solidFill>
              </a:rPr>
              <a:t>most architecture components</a:t>
            </a:r>
            <a:r>
              <a:rPr sz="2000">
                <a:solidFill>
                  <a:srgbClr val="404040"/>
                </a:solidFill>
              </a:rPr>
              <a:t>?</a:t>
            </a:r>
          </a:p>
          <a:p>
            <a:pPr>
              <a:spcAft>
                <a:spcPts val="1200"/>
              </a:spcAft>
            </a:pPr>
            <a:r>
              <a:rPr sz="2000">
                <a:solidFill>
                  <a:srgbClr val="404040"/>
                </a:solidFill>
              </a:rPr>
              <a:t>• Core stories first → Supporting stories later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7</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Story IDs and Traceability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Story ID Convention</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Story ID Format</a:t>
            </a:r>
          </a:p>
          <a:p>
            <a:pPr>
              <a:spcAft>
                <a:spcPts val="1200"/>
              </a:spcAft>
            </a:pPr>
            <a:r>
              <a:rPr sz="2000">
                <a:solidFill>
                  <a:srgbClr val="404040"/>
                </a:solidFill>
              </a:rPr>
              <a:t>• Original: </a:t>
            </a:r>
            <a:r>
              <a:rPr sz="2000">
                <a:solidFill>
                  <a:srgbClr val="404040"/>
                </a:solidFill>
                <a:latin typeface="Consolas"/>
              </a:rPr>
              <a:t>{DOMAIN}-STORY-{N}</a:t>
            </a:r>
            <a:r>
              <a:rPr sz="2000">
                <a:solidFill>
                  <a:srgbClr val="404040"/>
                </a:solidFill>
              </a:rPr>
              <a:t> → ORDER-STORY-001</a:t>
            </a:r>
          </a:p>
          <a:p>
            <a:pPr>
              <a:spcAft>
                <a:spcPts val="1200"/>
              </a:spcAft>
            </a:pPr>
            <a:r>
              <a:rPr sz="2000">
                <a:solidFill>
                  <a:srgbClr val="404040"/>
                </a:solidFill>
              </a:rPr>
              <a:t>• Frontend: </a:t>
            </a:r>
            <a:r>
              <a:rPr sz="2000">
                <a:solidFill>
                  <a:srgbClr val="404040"/>
                </a:solidFill>
                <a:latin typeface="Consolas"/>
              </a:rPr>
              <a:t>{DOMAIN}-FE-{N}.{X}</a:t>
            </a:r>
            <a:r>
              <a:rPr sz="2000">
                <a:solidFill>
                  <a:srgbClr val="404040"/>
                </a:solidFill>
              </a:rPr>
              <a:t> → ORDER-FE-001.1</a:t>
            </a:r>
          </a:p>
          <a:p>
            <a:pPr>
              <a:spcAft>
                <a:spcPts val="1200"/>
              </a:spcAft>
            </a:pPr>
            <a:r>
              <a:rPr sz="2000">
                <a:solidFill>
                  <a:srgbClr val="404040"/>
                </a:solidFill>
              </a:rPr>
              <a:t>• Backend: </a:t>
            </a:r>
            <a:r>
              <a:rPr sz="2000">
                <a:solidFill>
                  <a:srgbClr val="404040"/>
                </a:solidFill>
                <a:latin typeface="Consolas"/>
              </a:rPr>
              <a:t>{DOMAIN}-BE-{N}.{X}</a:t>
            </a:r>
            <a:r>
              <a:rPr sz="2000">
                <a:solidFill>
                  <a:srgbClr val="404040"/>
                </a:solidFill>
              </a:rPr>
              <a:t> → ORDER-BE-001.1</a:t>
            </a:r>
          </a:p>
          <a:p>
            <a:pPr>
              <a:spcAft>
                <a:spcPts val="1200"/>
              </a:spcAft>
            </a:pPr>
            <a:r>
              <a:rPr sz="2000">
                <a:solidFill>
                  <a:srgbClr val="404040"/>
                </a:solidFill>
              </a:rPr>
              <a:t>• Infrastructure: </a:t>
            </a:r>
            <a:r>
              <a:rPr sz="2000">
                <a:solidFill>
                  <a:srgbClr val="404040"/>
                </a:solidFill>
                <a:latin typeface="Consolas"/>
              </a:rPr>
              <a:t>{DOMAIN}-INFRA-{N}.{X}</a:t>
            </a:r>
            <a:r>
              <a:rPr sz="2000">
                <a:solidFill>
                  <a:srgbClr val="404040"/>
                </a:solidFill>
              </a:rPr>
              <a:t> → ORDER-INFRA-001.1</a:t>
            </a:r>
          </a:p>
          <a:p>
            <a:pPr>
              <a:spcAft>
                <a:spcPts val="1200"/>
              </a:spcAft>
            </a:pPr>
            <a:r>
              <a:rPr sz="2000">
                <a:solidFill>
                  <a:srgbClr val="404040"/>
                </a:solidFill>
              </a:rPr>
              <a:t>• Scenario: </a:t>
            </a:r>
            <a:r>
              <a:rPr sz="2000">
                <a:solidFill>
                  <a:srgbClr val="404040"/>
                </a:solidFill>
                <a:latin typeface="Consolas"/>
              </a:rPr>
              <a:t>{STORY-ID}-S{N}</a:t>
            </a:r>
            <a:r>
              <a:rPr sz="2000">
                <a:solidFill>
                  <a:srgbClr val="404040"/>
                </a:solidFill>
              </a:rPr>
              <a:t> → ORDER-BE-001.1-S1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Traceability Chain</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Full Traceability</a:t>
            </a:r>
          </a:p>
          <a:p>
            <a:pPr>
              <a:spcAft>
                <a:spcPts val="1200"/>
              </a:spcAft>
            </a:pPr>
            <a:r>
              <a:rPr sz="2000">
                <a:solidFill>
                  <a:srgbClr val="404040"/>
                </a:solidFill>
              </a:rPr>
              <a:t>• Architecture Section 3.2</a:t>
            </a:r>
          </a:p>
          <a:p>
            <a:pPr>
              <a:spcAft>
                <a:spcPts val="1200"/>
              </a:spcAft>
            </a:pPr>
            <a:r>
              <a:rPr sz="2000">
                <a:solidFill>
                  <a:srgbClr val="404040"/>
                </a:solidFill>
              </a:rPr>
              <a:t>• ↓ derives</a:t>
            </a:r>
          </a:p>
          <a:p>
            <a:pPr>
              <a:spcAft>
                <a:spcPts val="1200"/>
              </a:spcAft>
            </a:pPr>
            <a:r>
              <a:rPr sz="2000">
                <a:solidFill>
                  <a:srgbClr val="404040"/>
                </a:solidFill>
              </a:rPr>
              <a:t>• ORDER-STORY-001</a:t>
            </a:r>
          </a:p>
          <a:p>
            <a:pPr>
              <a:spcAft>
                <a:spcPts val="1200"/>
              </a:spcAft>
            </a:pPr>
            <a:r>
              <a:rPr sz="2000">
                <a:solidFill>
                  <a:srgbClr val="404040"/>
                </a:solidFill>
              </a:rPr>
              <a:t>• ↓ decomposes</a:t>
            </a:r>
          </a:p>
          <a:p>
            <a:pPr>
              <a:spcAft>
                <a:spcPts val="1200"/>
              </a:spcAft>
            </a:pPr>
            <a:r>
              <a:rPr sz="2000">
                <a:solidFill>
                  <a:srgbClr val="404040"/>
                </a:solidFill>
              </a:rPr>
              <a:t>• ORDER-BE-001.1</a:t>
            </a:r>
          </a:p>
          <a:p>
            <a:pPr>
              <a:spcAft>
                <a:spcPts val="1200"/>
              </a:spcAft>
            </a:pPr>
            <a:r>
              <a:rPr sz="2000">
                <a:solidFill>
                  <a:srgbClr val="404040"/>
                </a:solidFill>
              </a:rPr>
              <a:t>• ↓ specifies</a:t>
            </a:r>
          </a:p>
          <a:p>
            <a:pPr>
              <a:spcAft>
                <a:spcPts val="1200"/>
              </a:spcAft>
            </a:pPr>
            <a:r>
              <a:rPr sz="2000">
                <a:solidFill>
                  <a:srgbClr val="404040"/>
                </a:solidFill>
              </a:rPr>
              <a:t>• ORDER-BE-001.1-S1</a:t>
            </a:r>
          </a:p>
          <a:p>
            <a:pPr>
              <a:spcAft>
                <a:spcPts val="1200"/>
              </a:spcAft>
            </a:pPr>
            <a:r>
              <a:rPr sz="2000">
                <a:solidFill>
                  <a:srgbClr val="404040"/>
                </a:solidFill>
              </a:rPr>
              <a:t>• ↓ tests</a:t>
            </a:r>
          </a:p>
          <a:p>
            <a:pPr>
              <a:spcAft>
                <a:spcPts val="1200"/>
              </a:spcAft>
            </a:pPr>
            <a:r>
              <a:rPr sz="2000">
                <a:solidFill>
                  <a:srgbClr val="404040"/>
                </a:solidFill>
              </a:rPr>
              <a:t>• test_order_be_001_1_s1_...</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8</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Building the Requirements Agent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Agent Workflow</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Requirements Agent Workflow</a:t>
            </a:r>
          </a:p>
          <a:p>
            <a:pPr>
              <a:spcAft>
                <a:spcPts val="1200"/>
              </a:spcAft>
            </a:pPr>
            <a:r>
              <a:rPr sz="2000">
                <a:solidFill>
                  <a:srgbClr val="404040"/>
                </a:solidFill>
              </a:rPr>
              <a:t>• 1. Read architecture document</a:t>
            </a:r>
          </a:p>
          <a:p>
            <a:pPr>
              <a:spcAft>
                <a:spcPts val="1200"/>
              </a:spcAft>
            </a:pPr>
            <a:r>
              <a:rPr sz="2000">
                <a:solidFill>
                  <a:srgbClr val="404040"/>
                </a:solidFill>
              </a:rPr>
              <a:t>• 2. Extract domains (bounded contexts)</a:t>
            </a:r>
          </a:p>
          <a:p>
            <a:pPr>
              <a:spcAft>
                <a:spcPts val="1200"/>
              </a:spcAft>
            </a:pPr>
            <a:r>
              <a:rPr sz="2000">
                <a:solidFill>
                  <a:srgbClr val="404040"/>
                </a:solidFill>
              </a:rPr>
              <a:t>• 3. Generate prioritized story list (Pareto)</a:t>
            </a:r>
          </a:p>
          <a:p>
            <a:pPr>
              <a:spcAft>
                <a:spcPts val="1200"/>
              </a:spcAft>
            </a:pPr>
            <a:r>
              <a:rPr sz="2000">
                <a:solidFill>
                  <a:srgbClr val="404040"/>
                </a:solidFill>
              </a:rPr>
              <a:t>• 4. Write story bundles one at a time</a:t>
            </a:r>
          </a:p>
          <a:p>
            <a:pPr>
              <a:spcAft>
                <a:spcPts val="1200"/>
              </a:spcAft>
            </a:pPr>
            <a:r>
              <a:rPr sz="2000">
                <a:solidFill>
                  <a:srgbClr val="404040"/>
                </a:solidFill>
              </a:rPr>
              <a:t>• 5. Wait for approval before next story</a:t>
            </a:r>
          </a:p>
          <a:p>
            <a:pPr>
              <a:spcAft>
                <a:spcPts val="1200"/>
              </a:spcAft>
            </a:pPr>
            <a:r>
              <a:rPr sz="2000">
                <a:solidFill>
                  <a:srgbClr val="404040"/>
                </a:solidFill>
              </a:rPr>
              <a:t>• 6. Track progress with Pareto metrics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What the Agent Produces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Agent Output</a:t>
            </a:r>
          </a:p>
          <a:p>
            <a:pPr>
              <a:spcAft>
                <a:spcPts val="1200"/>
              </a:spcAft>
            </a:pPr>
            <a:r>
              <a:rPr sz="2000">
                <a:solidFill>
                  <a:srgbClr val="404040"/>
                </a:solidFill>
              </a:rPr>
              <a:t>• ```</a:t>
            </a:r>
          </a:p>
          <a:p>
            <a:pPr>
              <a:spcAft>
                <a:spcPts val="1200"/>
              </a:spcAft>
            </a:pPr>
            <a:r>
              <a:rPr sz="2000">
                <a:solidFill>
                  <a:srgbClr val="404040"/>
                </a:solidFill>
              </a:rPr>
              <a:t>• docs/user-stories/</a:t>
            </a:r>
          </a:p>
          <a:p>
            <a:pPr lvl="2">
              <a:spcAft>
                <a:spcPts val="1200"/>
              </a:spcAft>
            </a:pPr>
            <a:r>
              <a:rPr sz="2000">
                <a:solidFill>
                  <a:srgbClr val="404040"/>
                </a:solidFill>
              </a:rPr>
              <a:t>• ├── README.md          ← inventory + progress</a:t>
            </a:r>
          </a:p>
          <a:p>
            <a:pPr lvl="1">
              <a:spcAft>
                <a:spcPts val="1200"/>
              </a:spcAft>
            </a:pPr>
            <a:r>
              <a:rPr sz="2000">
                <a:solidFill>
                  <a:srgbClr val="404040"/>
                </a:solidFill>
              </a:rPr>
              <a:t>• ├── {domain-1}.md      ← STORY + FE + BE + INFRA</a:t>
            </a:r>
          </a:p>
          <a:p>
            <a:pPr lvl="1">
              <a:spcAft>
                <a:spcPts val="1200"/>
              </a:spcAft>
            </a:pPr>
            <a:r>
              <a:rPr sz="2000">
                <a:solidFill>
                  <a:srgbClr val="404040"/>
                </a:solidFill>
              </a:rPr>
              <a:t>• ├── {domain-2}.md      ← STORY + FE + BE + INFRA</a:t>
            </a:r>
          </a:p>
          <a:p>
            <a:pPr lvl="1">
              <a:spcAft>
                <a:spcPts val="1200"/>
              </a:spcAft>
            </a:pPr>
            <a:r>
              <a:rPr sz="2000">
                <a:solidFill>
                  <a:srgbClr val="404040"/>
                </a:solidFill>
              </a:rPr>
              <a:t>• └── {domain-3}.md      ← STORY + FE + BE + INFRA</a:t>
            </a:r>
          </a:p>
          <a:p>
            <a:pPr>
              <a:spcAft>
                <a:spcPts val="1200"/>
              </a:spcAft>
            </a:pPr>
            <a:r>
              <a:rPr sz="2000">
                <a:solidFill>
                  <a:srgbClr val="404040"/>
                </a:solidFill>
              </a:rPr>
              <a:t>• ```</a:t>
            </a:r>
          </a:p>
          <a:p>
            <a:pPr>
              <a:spcAft>
                <a:spcPts val="1200"/>
              </a:spcAft>
            </a:pPr>
            <a:r>
              <a:rPr sz="2000">
                <a:solidFill>
                  <a:srgbClr val="404040"/>
                </a:solidFill>
              </a:rPr>
              <a:t>• Each file = one </a:t>
            </a:r>
            <a:r>
              <a:rPr b="1" sz="2000">
                <a:solidFill>
                  <a:srgbClr val="404040"/>
                </a:solidFill>
              </a:rPr>
              <a:t>story bundle</a:t>
            </a:r>
          </a:p>
          <a:p>
            <a:pPr>
              <a:spcAft>
                <a:spcPts val="1200"/>
              </a:spcAft>
            </a:pPr>
            <a:r>
              <a:rPr sz="2000">
                <a:solidFill>
                  <a:srgbClr val="404040"/>
                </a:solidFill>
              </a:rPr>
              <a:t>• Original + all sub-stories in one file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Context Engineering for Requirements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Context Engineering: What Goes in the Prompt</a:t>
            </a:r>
          </a:p>
          <a:p>
            <a:pPr>
              <a:spcAft>
                <a:spcPts val="1200"/>
              </a:spcAft>
            </a:pPr>
            <a:r>
              <a:rPr sz="2000">
                <a:solidFill>
                  <a:srgbClr val="404040"/>
                </a:solidFill>
              </a:rPr>
              <a:t>• ✅ Story format (AS A / I WANT / SO THAT)</a:t>
            </a:r>
          </a:p>
          <a:p>
            <a:pPr>
              <a:spcAft>
                <a:spcPts val="1200"/>
              </a:spcAft>
            </a:pPr>
            <a:r>
              <a:rPr sz="2000">
                <a:solidFill>
                  <a:srgbClr val="404040"/>
                </a:solidFill>
              </a:rPr>
              <a:t>• ✅ GIVEN-WHEN-THEN template</a:t>
            </a:r>
          </a:p>
          <a:p>
            <a:pPr>
              <a:spcAft>
                <a:spcPts val="1200"/>
              </a:spcAft>
            </a:pPr>
            <a:r>
              <a:rPr sz="2000">
                <a:solidFill>
                  <a:srgbClr val="404040"/>
                </a:solidFill>
              </a:rPr>
              <a:t>• ✅ Story ID naming convention</a:t>
            </a:r>
          </a:p>
          <a:p>
            <a:pPr>
              <a:spcAft>
                <a:spcPts val="1200"/>
              </a:spcAft>
            </a:pPr>
            <a:r>
              <a:rPr sz="2000">
                <a:solidFill>
                  <a:srgbClr val="404040"/>
                </a:solidFill>
              </a:rPr>
              <a:t>• ✅ Decomposition rules (FE + BE + INFRA)</a:t>
            </a:r>
          </a:p>
          <a:p>
            <a:pPr>
              <a:spcAft>
                <a:spcPts val="1200"/>
              </a:spcAft>
            </a:pPr>
            <a:r>
              <a:rPr sz="2000">
                <a:solidFill>
                  <a:srgbClr val="404040"/>
                </a:solidFill>
              </a:rPr>
              <a:t>• ✅ INFRA minimums (Lambda, data, events, monitoring)</a:t>
            </a:r>
          </a:p>
          <a:p>
            <a:pPr>
              <a:spcAft>
                <a:spcPts val="1200"/>
              </a:spcAft>
            </a:pPr>
            <a:r>
              <a:rPr sz="2000">
                <a:solidFill>
                  <a:srgbClr val="404040"/>
                </a:solidFill>
              </a:rPr>
              <a:t>• ✅ Pareto analysis instructions</a:t>
            </a:r>
          </a:p>
          <a:p>
            <a:pPr>
              <a:spcAft>
                <a:spcPts val="1200"/>
              </a:spcAft>
            </a:pPr>
            <a:r>
              <a:rPr sz="2000">
                <a:solidFill>
                  <a:srgbClr val="404040"/>
                </a:solidFill>
              </a:rPr>
              <a:t>• ✅ Architecture reference rules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Assignment</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Module 3 Assignment</a:t>
            </a:r>
          </a:p>
          <a:p>
            <a:pPr>
              <a:spcAft>
                <a:spcPts val="1200"/>
              </a:spcAft>
            </a:pPr>
            <a:r>
              <a:rPr sz="2000">
                <a:solidFill>
                  <a:srgbClr val="404040"/>
                </a:solidFill>
              </a:rPr>
              <a:t>• 1. Build </a:t>
            </a:r>
            <a:r>
              <a:rPr sz="2000">
                <a:solidFill>
                  <a:srgbClr val="404040"/>
                </a:solidFill>
                <a:latin typeface="Consolas"/>
              </a:rPr>
              <a:t>requirements-agent.json</a:t>
            </a:r>
            <a:r>
              <a:rPr sz="2000">
                <a:solidFill>
                  <a:srgbClr val="404040"/>
                </a:solidFill>
              </a:rPr>
              <a:t> (fill in all TODOs)</a:t>
            </a:r>
          </a:p>
          <a:p>
            <a:pPr>
              <a:spcAft>
                <a:spcPts val="1200"/>
              </a:spcAft>
            </a:pPr>
            <a:r>
              <a:rPr sz="2000">
                <a:solidFill>
                  <a:srgbClr val="404040"/>
                </a:solidFill>
              </a:rPr>
              <a:t>• 2. Use it to derive stories from your kata architecture</a:t>
            </a:r>
          </a:p>
          <a:p>
            <a:pPr>
              <a:spcAft>
                <a:spcPts val="1200"/>
              </a:spcAft>
            </a:pPr>
            <a:r>
              <a:rPr sz="2000">
                <a:solidFill>
                  <a:srgbClr val="404040"/>
                </a:solidFill>
              </a:rPr>
              <a:t>• 3. Generate all core stories (Pareto 20%)</a:t>
            </a:r>
          </a:p>
          <a:p>
            <a:pPr>
              <a:spcAft>
                <a:spcPts val="1200"/>
              </a:spcAft>
            </a:pPr>
            <a:r>
              <a:rPr sz="2000">
                <a:solidFill>
                  <a:srgbClr val="404040"/>
                </a:solidFill>
              </a:rPr>
              <a:t>• 4. Commit via git-agent, create PR</a:t>
            </a:r>
          </a:p>
          <a:p>
            <a:pPr>
              <a:spcAft>
                <a:spcPts val="1200"/>
              </a:spcAft>
            </a:pPr>
            <a:r>
              <a:rPr sz="2000">
                <a:solidFill>
                  <a:srgbClr val="404040"/>
                </a:solidFill>
              </a:rPr>
              <a:t>• 5. Add </a:t>
            </a:r>
            <a:r>
              <a:rPr sz="2000">
                <a:solidFill>
                  <a:srgbClr val="404040"/>
                </a:solidFill>
                <a:latin typeface="Consolas"/>
              </a:rPr>
              <a:t>@momokrunic</a:t>
            </a:r>
            <a:r>
              <a:rPr sz="2000">
                <a:solidFill>
                  <a:srgbClr val="404040"/>
                </a:solidFill>
              </a:rPr>
              <a:t> as reviewer</a:t>
            </a:r>
          </a:p>
          <a:p>
            <a:pPr>
              <a:spcAft>
                <a:spcPts val="1200"/>
              </a:spcAft>
            </a:pPr>
            <a:r>
              <a:rPr sz="2000">
                <a:solidFill>
                  <a:srgbClr val="404040"/>
                </a:solidFill>
              </a:rPr>
              <a:t>• Deadline: check COURSE-TRACKER for dates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Recap</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Module 3 Recap</a:t>
            </a:r>
          </a:p>
          <a:p>
            <a:pPr>
              <a:spcAft>
                <a:spcPts val="1200"/>
              </a:spcAft>
            </a:pPr>
            <a:r>
              <a:rPr sz="2000">
                <a:solidFill>
                  <a:srgbClr val="404040"/>
                </a:solidFill>
              </a:rPr>
              <a:t>• ✅ User stories capture requirements from user perspective</a:t>
            </a:r>
          </a:p>
          <a:p>
            <a:pPr>
              <a:spcAft>
                <a:spcPts val="1200"/>
              </a:spcAft>
            </a:pPr>
            <a:r>
              <a:rPr sz="2000">
                <a:solidFill>
                  <a:srgbClr val="404040"/>
                </a:solidFill>
              </a:rPr>
              <a:t>• ✅ GIVEN-WHEN-THEN makes stories testable</a:t>
            </a:r>
          </a:p>
          <a:p>
            <a:pPr>
              <a:spcAft>
                <a:spcPts val="1200"/>
              </a:spcAft>
            </a:pPr>
            <a:r>
              <a:rPr sz="2000">
                <a:solidFill>
                  <a:srgbClr val="404040"/>
                </a:solidFill>
              </a:rPr>
              <a:t>• ✅ Decompose: Original → FE + BE + INFRA</a:t>
            </a:r>
          </a:p>
          <a:p>
            <a:pPr>
              <a:spcAft>
                <a:spcPts val="1200"/>
              </a:spcAft>
            </a:pPr>
            <a:r>
              <a:rPr sz="2000">
                <a:solidFill>
                  <a:srgbClr val="404040"/>
                </a:solidFill>
              </a:rPr>
              <a:t>• ✅ Pareto: 20% of stories = 80% of value</a:t>
            </a:r>
          </a:p>
          <a:p>
            <a:pPr>
              <a:spcAft>
                <a:spcPts val="1200"/>
              </a:spcAft>
            </a:pPr>
            <a:r>
              <a:rPr sz="2000">
                <a:solidFill>
                  <a:srgbClr val="404040"/>
                </a:solidFill>
              </a:rPr>
              <a:t>• ✅ Story IDs enable full traceability</a:t>
            </a:r>
          </a:p>
          <a:p>
            <a:pPr>
              <a:spcAft>
                <a:spcPts val="1200"/>
              </a:spcAft>
            </a:pPr>
            <a:r>
              <a:rPr sz="2000">
                <a:solidFill>
                  <a:srgbClr val="404040"/>
                </a:solidFill>
              </a:rPr>
              <a:t>• ✅ Implementation order: INFRA → BE → FE → E2E</a:t>
            </a:r>
          </a:p>
          <a:p>
            <a:pPr>
              <a:spcAft>
                <a:spcPts val="1200"/>
              </a:spcAft>
            </a:pPr>
            <a:r>
              <a:rPr sz="2000">
                <a:solidFill>
                  <a:srgbClr val="404040"/>
                </a:solidFill>
              </a:rPr>
              <a:t>• Next: Module 4 — CI/CD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